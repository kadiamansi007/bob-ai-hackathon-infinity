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Poppins" panose="00000500000000000000" pitchFamily="2" charset="0"/>
      <p:regular r:id="rId12"/>
    </p:embeddedFont>
    <p:embeddedFont>
      <p:font typeface="Poppins Bold" panose="020B0604020202020204" charset="0"/>
      <p:regular r:id="rId13"/>
    </p:embeddedFont>
    <p:embeddedFont>
      <p:font typeface="Poppins Heavy" panose="020B0604020202020204" charset="0"/>
      <p:regular r:id="rId14"/>
    </p:embeddedFont>
    <p:embeddedFont>
      <p:font typeface="Poppins Medium" panose="00000600000000000000" pitchFamily="2" charset="0"/>
      <p:regular r:id="rId15"/>
    </p:embeddedFont>
    <p:embeddedFont>
      <p:font typeface="Poppins Semi-Bold" panose="020B0604020202020204" charset="0"/>
      <p:regular r:id="rId16"/>
    </p:embeddedFont>
    <p:embeddedFont>
      <p:font typeface="Poppins Ultra-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54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image" Target="../media/image25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365760" y="1540462"/>
            <a:ext cx="3108960" cy="997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92"/>
              </a:lnSpc>
            </a:pPr>
            <a:r>
              <a:rPr lang="en-US" sz="624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Infinity: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65760" y="2741956"/>
            <a:ext cx="5449824" cy="1381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7"/>
              </a:lnSpc>
            </a:pPr>
            <a:r>
              <a:rPr lang="en-US" sz="4431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Threat Intelligence Correlation &amp;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5760" y="4385062"/>
            <a:ext cx="5449824" cy="1406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2"/>
              </a:lnSpc>
            </a:pPr>
            <a:r>
              <a:rPr lang="en-US" sz="4576" b="1" dirty="0">
                <a:solidFill>
                  <a:srgbClr val="C6302C"/>
                </a:solidFill>
                <a:latin typeface="Poppins Bold"/>
                <a:ea typeface="Poppins Bold"/>
                <a:cs typeface="Poppins Bold"/>
                <a:sym typeface="Poppins Bold"/>
              </a:rPr>
              <a:t>Alert Prioritisation Assistant</a:t>
            </a:r>
          </a:p>
        </p:txBody>
      </p:sp>
      <p:sp>
        <p:nvSpPr>
          <p:cNvPr id="6" name="Freeform 6"/>
          <p:cNvSpPr/>
          <p:nvPr/>
        </p:nvSpPr>
        <p:spPr>
          <a:xfrm>
            <a:off x="207818" y="5990729"/>
            <a:ext cx="5239206" cy="448211"/>
          </a:xfrm>
          <a:custGeom>
            <a:avLst/>
            <a:gdLst/>
            <a:ahLst/>
            <a:cxnLst/>
            <a:rect l="l" t="t" r="r" b="b"/>
            <a:pathLst>
              <a:path w="5239206" h="448211">
                <a:moveTo>
                  <a:pt x="0" y="0"/>
                </a:moveTo>
                <a:lnTo>
                  <a:pt x="5239206" y="0"/>
                </a:lnTo>
                <a:lnTo>
                  <a:pt x="5239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365760" y="6658183"/>
            <a:ext cx="4992624" cy="1242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66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Defence Analysts and Commanders with Evidence-Driven Insights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5760" y="8523626"/>
            <a:ext cx="3035808" cy="39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97" dirty="0">
                <a:solidFill>
                  <a:srgbClr val="C6302C"/>
                </a:solidFill>
                <a:latin typeface="Poppins"/>
                <a:ea typeface="Poppins"/>
                <a:cs typeface="Poppins"/>
                <a:sym typeface="Poppins"/>
              </a:rPr>
              <a:t>19 September 2026</a:t>
            </a:r>
          </a:p>
        </p:txBody>
      </p:sp>
      <p:sp>
        <p:nvSpPr>
          <p:cNvPr id="9" name="Freeform 9"/>
          <p:cNvSpPr/>
          <p:nvPr/>
        </p:nvSpPr>
        <p:spPr>
          <a:xfrm>
            <a:off x="5654842" y="426348"/>
            <a:ext cx="2843828" cy="8362970"/>
          </a:xfrm>
          <a:custGeom>
            <a:avLst/>
            <a:gdLst/>
            <a:ahLst/>
            <a:cxnLst/>
            <a:rect l="l" t="t" r="r" b="b"/>
            <a:pathLst>
              <a:path w="2843828" h="8362970">
                <a:moveTo>
                  <a:pt x="0" y="0"/>
                </a:moveTo>
                <a:lnTo>
                  <a:pt x="2843828" y="0"/>
                </a:lnTo>
                <a:lnTo>
                  <a:pt x="2843828" y="8362970"/>
                </a:lnTo>
                <a:lnTo>
                  <a:pt x="0" y="8362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6092354" y="852695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5873598" y="1497682"/>
            <a:ext cx="2406316" cy="655919"/>
          </a:xfrm>
          <a:custGeom>
            <a:avLst/>
            <a:gdLst/>
            <a:ahLst/>
            <a:cxnLst/>
            <a:rect l="l" t="t" r="r" b="b"/>
            <a:pathLst>
              <a:path w="2406316" h="655919">
                <a:moveTo>
                  <a:pt x="0" y="0"/>
                </a:moveTo>
                <a:lnTo>
                  <a:pt x="2406316" y="0"/>
                </a:lnTo>
                <a:lnTo>
                  <a:pt x="240631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6092354" y="1705390"/>
            <a:ext cx="448450" cy="448211"/>
          </a:xfrm>
          <a:custGeom>
            <a:avLst/>
            <a:gdLst/>
            <a:ahLst/>
            <a:cxnLst/>
            <a:rect l="l" t="t" r="r" b="b"/>
            <a:pathLst>
              <a:path w="448450" h="448211">
                <a:moveTo>
                  <a:pt x="0" y="0"/>
                </a:moveTo>
                <a:lnTo>
                  <a:pt x="448450" y="0"/>
                </a:lnTo>
                <a:lnTo>
                  <a:pt x="44845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6092354" y="2142670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6092354" y="2776725"/>
            <a:ext cx="448450" cy="229572"/>
          </a:xfrm>
          <a:custGeom>
            <a:avLst/>
            <a:gdLst/>
            <a:ahLst/>
            <a:cxnLst/>
            <a:rect l="l" t="t" r="r" b="b"/>
            <a:pathLst>
              <a:path w="448450" h="229572">
                <a:moveTo>
                  <a:pt x="0" y="0"/>
                </a:moveTo>
                <a:lnTo>
                  <a:pt x="448450" y="0"/>
                </a:lnTo>
                <a:lnTo>
                  <a:pt x="448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6092354" y="3214004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6092354" y="3640352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16756708" y="852695"/>
            <a:ext cx="1323474" cy="655919"/>
          </a:xfrm>
          <a:custGeom>
            <a:avLst/>
            <a:gdLst/>
            <a:ahLst/>
            <a:cxnLst/>
            <a:rect l="l" t="t" r="r" b="b"/>
            <a:pathLst>
              <a:path w="1323474" h="655919">
                <a:moveTo>
                  <a:pt x="0" y="0"/>
                </a:moveTo>
                <a:lnTo>
                  <a:pt x="1323474" y="0"/>
                </a:lnTo>
                <a:lnTo>
                  <a:pt x="132347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8487732" y="1497682"/>
            <a:ext cx="1968804" cy="1082267"/>
          </a:xfrm>
          <a:custGeom>
            <a:avLst/>
            <a:gdLst/>
            <a:ahLst/>
            <a:cxnLst/>
            <a:rect l="l" t="t" r="r" b="b"/>
            <a:pathLst>
              <a:path w="1968804" h="1082267">
                <a:moveTo>
                  <a:pt x="0" y="0"/>
                </a:moveTo>
                <a:lnTo>
                  <a:pt x="1968804" y="0"/>
                </a:lnTo>
                <a:lnTo>
                  <a:pt x="196880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>
            <a:off x="10445598" y="1497682"/>
            <a:ext cx="1750048" cy="1082267"/>
          </a:xfrm>
          <a:custGeom>
            <a:avLst/>
            <a:gdLst/>
            <a:ahLst/>
            <a:cxnLst/>
            <a:rect l="l" t="t" r="r" b="b"/>
            <a:pathLst>
              <a:path w="1750048" h="1082267">
                <a:moveTo>
                  <a:pt x="0" y="0"/>
                </a:moveTo>
                <a:lnTo>
                  <a:pt x="1750048" y="0"/>
                </a:lnTo>
                <a:lnTo>
                  <a:pt x="175004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11965952" y="1497682"/>
            <a:ext cx="1750048" cy="1082267"/>
          </a:xfrm>
          <a:custGeom>
            <a:avLst/>
            <a:gdLst/>
            <a:ahLst/>
            <a:cxnLst/>
            <a:rect l="l" t="t" r="r" b="b"/>
            <a:pathLst>
              <a:path w="1750048" h="1082267">
                <a:moveTo>
                  <a:pt x="0" y="0"/>
                </a:moveTo>
                <a:lnTo>
                  <a:pt x="1750048" y="0"/>
                </a:lnTo>
                <a:lnTo>
                  <a:pt x="175004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Freeform 21"/>
          <p:cNvSpPr/>
          <p:nvPr/>
        </p:nvSpPr>
        <p:spPr>
          <a:xfrm>
            <a:off x="13497244" y="1497682"/>
            <a:ext cx="1750048" cy="1082267"/>
          </a:xfrm>
          <a:custGeom>
            <a:avLst/>
            <a:gdLst/>
            <a:ahLst/>
            <a:cxnLst/>
            <a:rect l="l" t="t" r="r" b="b"/>
            <a:pathLst>
              <a:path w="1750048" h="1082267">
                <a:moveTo>
                  <a:pt x="0" y="0"/>
                </a:moveTo>
                <a:lnTo>
                  <a:pt x="1750048" y="0"/>
                </a:lnTo>
                <a:lnTo>
                  <a:pt x="175004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Freeform 22"/>
          <p:cNvSpPr/>
          <p:nvPr/>
        </p:nvSpPr>
        <p:spPr>
          <a:xfrm>
            <a:off x="15017598" y="1497682"/>
            <a:ext cx="1750048" cy="1082267"/>
          </a:xfrm>
          <a:custGeom>
            <a:avLst/>
            <a:gdLst/>
            <a:ahLst/>
            <a:cxnLst/>
            <a:rect l="l" t="t" r="r" b="b"/>
            <a:pathLst>
              <a:path w="1750048" h="1082267">
                <a:moveTo>
                  <a:pt x="0" y="0"/>
                </a:moveTo>
                <a:lnTo>
                  <a:pt x="1750048" y="0"/>
                </a:lnTo>
                <a:lnTo>
                  <a:pt x="175004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TextBox 23"/>
          <p:cNvSpPr txBox="1"/>
          <p:nvPr/>
        </p:nvSpPr>
        <p:spPr>
          <a:xfrm>
            <a:off x="15361920" y="1797117"/>
            <a:ext cx="932688" cy="140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7"/>
              </a:lnSpc>
            </a:pPr>
            <a:r>
              <a:rPr lang="en-US" sz="93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FALSE POSITIVES</a:t>
            </a:r>
          </a:p>
        </p:txBody>
      </p:sp>
      <p:sp>
        <p:nvSpPr>
          <p:cNvPr id="24" name="Freeform 24"/>
          <p:cNvSpPr/>
          <p:nvPr/>
        </p:nvSpPr>
        <p:spPr>
          <a:xfrm>
            <a:off x="16537952" y="1497682"/>
            <a:ext cx="1542230" cy="1082267"/>
          </a:xfrm>
          <a:custGeom>
            <a:avLst/>
            <a:gdLst/>
            <a:ahLst/>
            <a:cxnLst/>
            <a:rect l="l" t="t" r="r" b="b"/>
            <a:pathLst>
              <a:path w="1542230" h="1082267">
                <a:moveTo>
                  <a:pt x="0" y="0"/>
                </a:moveTo>
                <a:lnTo>
                  <a:pt x="1542230" y="0"/>
                </a:lnTo>
                <a:lnTo>
                  <a:pt x="154223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5" name="Freeform 25"/>
          <p:cNvSpPr/>
          <p:nvPr/>
        </p:nvSpPr>
        <p:spPr>
          <a:xfrm>
            <a:off x="8487732" y="2569017"/>
            <a:ext cx="4582938" cy="3432644"/>
          </a:xfrm>
          <a:custGeom>
            <a:avLst/>
            <a:gdLst/>
            <a:ahLst/>
            <a:cxnLst/>
            <a:rect l="l" t="t" r="r" b="b"/>
            <a:pathLst>
              <a:path w="4582938" h="3432644">
                <a:moveTo>
                  <a:pt x="0" y="0"/>
                </a:moveTo>
                <a:lnTo>
                  <a:pt x="4582938" y="0"/>
                </a:lnTo>
                <a:lnTo>
                  <a:pt x="4582938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Freeform 26"/>
          <p:cNvSpPr/>
          <p:nvPr/>
        </p:nvSpPr>
        <p:spPr>
          <a:xfrm>
            <a:off x="9570574" y="3421712"/>
            <a:ext cx="1760986" cy="1945894"/>
          </a:xfrm>
          <a:custGeom>
            <a:avLst/>
            <a:gdLst/>
            <a:ahLst/>
            <a:cxnLst/>
            <a:rect l="l" t="t" r="r" b="b"/>
            <a:pathLst>
              <a:path w="1760986" h="1945894">
                <a:moveTo>
                  <a:pt x="0" y="0"/>
                </a:moveTo>
                <a:lnTo>
                  <a:pt x="1760986" y="0"/>
                </a:lnTo>
                <a:lnTo>
                  <a:pt x="1760986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Freeform 27"/>
          <p:cNvSpPr/>
          <p:nvPr/>
        </p:nvSpPr>
        <p:spPr>
          <a:xfrm>
            <a:off x="12840976" y="2569017"/>
            <a:ext cx="5239206" cy="3432644"/>
          </a:xfrm>
          <a:custGeom>
            <a:avLst/>
            <a:gdLst/>
            <a:ahLst/>
            <a:cxnLst/>
            <a:rect l="l" t="t" r="r" b="b"/>
            <a:pathLst>
              <a:path w="5239206" h="3432644">
                <a:moveTo>
                  <a:pt x="0" y="0"/>
                </a:moveTo>
                <a:lnTo>
                  <a:pt x="5239206" y="0"/>
                </a:lnTo>
                <a:lnTo>
                  <a:pt x="5239206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TextBox 28"/>
          <p:cNvSpPr txBox="1"/>
          <p:nvPr/>
        </p:nvSpPr>
        <p:spPr>
          <a:xfrm>
            <a:off x="6629575" y="2340581"/>
            <a:ext cx="768096" cy="184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1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Alert Feed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63056" y="2776725"/>
            <a:ext cx="694944" cy="184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1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Incidents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62531" y="3155209"/>
            <a:ext cx="1133856" cy="206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3"/>
              </a:lnSpc>
            </a:pPr>
            <a:r>
              <a:rPr lang="en-US" sz="129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MITRE ATT&amp;CK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29575" y="3728414"/>
            <a:ext cx="1353312" cy="184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8"/>
              </a:lnSpc>
            </a:pPr>
            <a:r>
              <a:rPr lang="en-US" sz="117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Commander View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28816" y="1088705"/>
            <a:ext cx="1481328" cy="303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5"/>
              </a:lnSpc>
            </a:pPr>
            <a:r>
              <a:rPr lang="en-US" sz="86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Threat Platform</a:t>
            </a:r>
          </a:p>
          <a:p>
            <a:pPr algn="l">
              <a:lnSpc>
                <a:spcPts val="1205"/>
              </a:lnSpc>
            </a:pPr>
            <a:r>
              <a:rPr lang="en-US" sz="86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Security Operations Centre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28816" y="840221"/>
            <a:ext cx="512064" cy="183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Infinity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28816" y="1811903"/>
            <a:ext cx="768096" cy="162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2"/>
              </a:lnSpc>
            </a:pPr>
            <a:r>
              <a:rPr lang="en-US" sz="1052" b="1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Dashboard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833104" y="2039285"/>
            <a:ext cx="457200" cy="336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2130" b="1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159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625328" y="2044751"/>
            <a:ext cx="329184" cy="325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015" b="1">
                <a:solidFill>
                  <a:srgbClr val="FF914D"/>
                </a:solidFill>
                <a:latin typeface="Poppins Bold"/>
                <a:ea typeface="Poppins Bold"/>
                <a:cs typeface="Poppins Bold"/>
                <a:sym typeface="Poppins Bold"/>
              </a:rPr>
              <a:t>86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326112" y="2039285"/>
            <a:ext cx="182880" cy="336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2130" b="1">
                <a:solidFill>
                  <a:srgbClr val="FF914D"/>
                </a:solidFill>
                <a:latin typeface="Poppins Bold"/>
                <a:ea typeface="Poppins Bold"/>
                <a:cs typeface="Poppins Bold"/>
                <a:sym typeface="Poppins Bold"/>
              </a:rPr>
              <a:t>0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880592" y="2070674"/>
            <a:ext cx="731520" cy="282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1832" b="1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46.5%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5361920" y="2050217"/>
            <a:ext cx="329184" cy="314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947" b="1">
                <a:solidFill>
                  <a:srgbClr val="00C400"/>
                </a:solidFill>
                <a:latin typeface="Poppins Bold"/>
                <a:ea typeface="Poppins Bold"/>
                <a:cs typeface="Poppins Bold"/>
                <a:sym typeface="Poppins Bold"/>
              </a:rPr>
              <a:t>40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898112" y="2039285"/>
            <a:ext cx="182880" cy="336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2130" b="1">
                <a:solidFill>
                  <a:srgbClr val="FF914D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833104" y="1801176"/>
            <a:ext cx="841248" cy="142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2"/>
              </a:lnSpc>
            </a:pPr>
            <a:r>
              <a:rPr lang="en-US" sz="9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ALERTS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625328" y="1801176"/>
            <a:ext cx="987552" cy="142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2"/>
              </a:lnSpc>
            </a:pPr>
            <a:r>
              <a:rPr lang="en-US" sz="9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OPEN INCIDENTS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326112" y="1801176"/>
            <a:ext cx="768096" cy="142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9"/>
              </a:lnSpc>
            </a:pPr>
            <a:r>
              <a:rPr lang="en-US" sz="9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P1 INCIDENTS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880592" y="1776660"/>
            <a:ext cx="493776" cy="172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6"/>
              </a:lnSpc>
            </a:pPr>
            <a:r>
              <a:rPr lang="en-US" sz="10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FP RATE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6898112" y="1806642"/>
            <a:ext cx="987552" cy="131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5"/>
              </a:lnSpc>
            </a:pPr>
            <a:r>
              <a:rPr lang="en-US" sz="90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GENUINE THREATS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833104" y="3008609"/>
            <a:ext cx="2395728" cy="185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5"/>
              </a:lnSpc>
            </a:pPr>
            <a:r>
              <a:rPr lang="en-US" sz="124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CLASSIFICATION BREAKDOWN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240512" y="2999084"/>
            <a:ext cx="1499616" cy="195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6"/>
              </a:lnSpc>
            </a:pPr>
            <a:r>
              <a:rPr lang="en-US" sz="122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VOLUME SUMMARY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705088" y="6254597"/>
            <a:ext cx="1554480" cy="206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3"/>
              </a:lnSpc>
            </a:pPr>
            <a:r>
              <a:rPr lang="en-US" sz="129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RECENT INCIDENTS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705088" y="6708954"/>
            <a:ext cx="292608" cy="183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1"/>
              </a:lnSpc>
            </a:pPr>
            <a:r>
              <a:rPr lang="en-US" sz="10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Title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801600" y="6738936"/>
            <a:ext cx="493776" cy="142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2"/>
              </a:lnSpc>
            </a:pPr>
            <a:r>
              <a:rPr lang="en-US" sz="9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Severity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3789152" y="6738936"/>
            <a:ext cx="841248" cy="142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2"/>
              </a:lnSpc>
            </a:pPr>
            <a:r>
              <a:rPr lang="en-US" sz="9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Classification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5544800" y="6714420"/>
            <a:ext cx="731520" cy="172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lang="en-US" sz="10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Agreement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7318736" y="6714420"/>
            <a:ext cx="365760" cy="172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lang="en-US" sz="10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Score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705088" y="7238295"/>
            <a:ext cx="3291840" cy="162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"/>
              </a:lnSpc>
            </a:pPr>
            <a:r>
              <a:rPr lang="en-US" sz="1065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Regional Alert Cluster — Vessel-Noise-6287 [for...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801600" y="7228770"/>
            <a:ext cx="292608" cy="172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6"/>
              </a:lnSpc>
            </a:pPr>
            <a:r>
              <a:rPr lang="en-US" sz="10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LOW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3789152" y="7238295"/>
            <a:ext cx="1133856" cy="162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"/>
              </a:lnSpc>
            </a:pPr>
            <a:r>
              <a:rPr lang="en-US" sz="1065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✔ FALSE POSITIVE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5544800" y="7238295"/>
            <a:ext cx="1133856" cy="162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"/>
              </a:lnSpc>
            </a:pPr>
            <a:r>
              <a:rPr lang="en-US" sz="106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✔ NOT ANALYSED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7318736" y="7223304"/>
            <a:ext cx="329184" cy="183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1"/>
              </a:lnSpc>
            </a:pPr>
            <a:r>
              <a:rPr lang="en-US" sz="10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30.0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705088" y="7696506"/>
            <a:ext cx="3840480" cy="183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1"/>
              </a:lnSpc>
            </a:pPr>
            <a:r>
              <a:rPr lang="en-US" sz="1092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Regional Alert Cluster — Vessel-Noise-5125 [for...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2801600" y="7701972"/>
            <a:ext cx="292608" cy="172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6"/>
              </a:lnSpc>
            </a:pPr>
            <a:r>
              <a:rPr lang="en-US" sz="10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LOW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3789152" y="7711497"/>
            <a:ext cx="1133856" cy="162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"/>
              </a:lnSpc>
            </a:pPr>
            <a:r>
              <a:rPr lang="en-US" sz="1065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✔ FALSE POSITIVE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5544800" y="7711497"/>
            <a:ext cx="1133856" cy="162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"/>
              </a:lnSpc>
            </a:pPr>
            <a:r>
              <a:rPr lang="en-US" sz="106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✔ NOT ANALYSED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7318736" y="7696506"/>
            <a:ext cx="329184" cy="183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1"/>
              </a:lnSpc>
            </a:pPr>
            <a:r>
              <a:rPr lang="en-US" sz="10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24.8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284464" y="8253966"/>
            <a:ext cx="1353312" cy="168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86"/>
              </a:lnSpc>
            </a:pPr>
            <a:r>
              <a:rPr lang="en-US" sz="9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Powered by IBM Bob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284464" y="8169708"/>
            <a:ext cx="182880" cy="183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1"/>
              </a:lnSpc>
            </a:pPr>
            <a:r>
              <a:rPr lang="en-US" sz="10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284464" y="8169708"/>
            <a:ext cx="182880" cy="183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1"/>
              </a:lnSpc>
            </a:pPr>
            <a:r>
              <a:rPr lang="en-US" sz="10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8284464" y="8169708"/>
            <a:ext cx="182880" cy="183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1"/>
              </a:lnSpc>
            </a:pPr>
            <a:r>
              <a:rPr lang="en-US" sz="10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284464" y="8169708"/>
            <a:ext cx="182880" cy="183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1"/>
              </a:lnSpc>
            </a:pPr>
            <a:r>
              <a:rPr lang="en-US" sz="10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284464" y="8169708"/>
            <a:ext cx="182880" cy="183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1"/>
              </a:lnSpc>
            </a:pPr>
            <a:r>
              <a:rPr lang="en-US" sz="10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284464" y="8169708"/>
            <a:ext cx="182880" cy="183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1"/>
              </a:lnSpc>
            </a:pPr>
            <a:r>
              <a:rPr lang="en-US" sz="10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284464" y="8169708"/>
            <a:ext cx="182880" cy="183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1"/>
              </a:lnSpc>
            </a:pPr>
            <a:r>
              <a:rPr lang="en-US" sz="10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284464" y="8169708"/>
            <a:ext cx="182880" cy="183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1"/>
              </a:lnSpc>
            </a:pPr>
            <a:r>
              <a:rPr lang="en-US" sz="10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284464" y="8169708"/>
            <a:ext cx="182880" cy="183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1"/>
              </a:lnSpc>
            </a:pPr>
            <a:r>
              <a:rPr lang="en-US" sz="10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284464" y="8169708"/>
            <a:ext cx="182880" cy="183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1"/>
              </a:lnSpc>
            </a:pPr>
            <a:r>
              <a:rPr lang="en-US" sz="10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8284464" y="8169708"/>
            <a:ext cx="182880" cy="183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1"/>
              </a:lnSpc>
            </a:pPr>
            <a:r>
              <a:rPr lang="en-US" sz="10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8284464" y="8169708"/>
            <a:ext cx="182880" cy="183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1"/>
              </a:lnSpc>
            </a:pPr>
            <a:r>
              <a:rPr lang="en-US" sz="10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226842" y="426348"/>
            <a:ext cx="8061158" cy="7083928"/>
          </a:xfrm>
          <a:custGeom>
            <a:avLst/>
            <a:gdLst/>
            <a:ahLst/>
            <a:cxnLst/>
            <a:rect l="l" t="t" r="r" b="b"/>
            <a:pathLst>
              <a:path w="8061158" h="7083928">
                <a:moveTo>
                  <a:pt x="0" y="0"/>
                </a:moveTo>
                <a:lnTo>
                  <a:pt x="8061158" y="0"/>
                </a:lnTo>
                <a:lnTo>
                  <a:pt x="8061158" y="7083927"/>
                </a:lnTo>
                <a:lnTo>
                  <a:pt x="0" y="70839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8706488" y="2776725"/>
            <a:ext cx="7404890" cy="7510275"/>
          </a:xfrm>
          <a:custGeom>
            <a:avLst/>
            <a:gdLst/>
            <a:ahLst/>
            <a:cxnLst/>
            <a:rect l="l" t="t" r="r" b="b"/>
            <a:pathLst>
              <a:path w="7404890" h="7510275">
                <a:moveTo>
                  <a:pt x="0" y="0"/>
                </a:moveTo>
                <a:lnTo>
                  <a:pt x="7404890" y="0"/>
                </a:lnTo>
                <a:lnTo>
                  <a:pt x="7404890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731520" y="739184"/>
            <a:ext cx="7095744" cy="1925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28"/>
              </a:lnSpc>
            </a:pPr>
            <a:r>
              <a:rPr lang="en-US" sz="780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OPERATIONAL PROBLEM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1520" y="2613494"/>
            <a:ext cx="4590288" cy="995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2"/>
              </a:lnSpc>
            </a:pPr>
            <a:r>
              <a:rPr lang="en-US" sz="7502" b="1">
                <a:solidFill>
                  <a:srgbClr val="C42020"/>
                </a:solidFill>
                <a:latin typeface="Poppins Bold"/>
                <a:ea typeface="Poppins Bold"/>
                <a:cs typeface="Poppins Bold"/>
                <a:sym typeface="Poppins Bold"/>
              </a:rPr>
              <a:t>&amp; STAKES</a:t>
            </a:r>
          </a:p>
        </p:txBody>
      </p:sp>
      <p:sp>
        <p:nvSpPr>
          <p:cNvPr id="7" name="Freeform 7"/>
          <p:cNvSpPr/>
          <p:nvPr/>
        </p:nvSpPr>
        <p:spPr>
          <a:xfrm>
            <a:off x="645330" y="3640352"/>
            <a:ext cx="6759560" cy="218640"/>
          </a:xfrm>
          <a:custGeom>
            <a:avLst/>
            <a:gdLst/>
            <a:ahLst/>
            <a:cxnLst/>
            <a:rect l="l" t="t" r="r" b="b"/>
            <a:pathLst>
              <a:path w="6759560" h="218640">
                <a:moveTo>
                  <a:pt x="0" y="0"/>
                </a:moveTo>
                <a:lnTo>
                  <a:pt x="6759560" y="0"/>
                </a:lnTo>
                <a:lnTo>
                  <a:pt x="675956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786384" y="4168167"/>
            <a:ext cx="5669280" cy="77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6"/>
              </a:lnSpc>
            </a:pPr>
            <a:r>
              <a:rPr lang="en-US" sz="27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Thousands of alerts flood in from diverse sources every day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6384" y="5330598"/>
            <a:ext cx="5157216" cy="77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6"/>
              </a:lnSpc>
            </a:pPr>
            <a:r>
              <a:rPr lang="en-US" sz="27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Analysts face overload across formats and systems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6384" y="6493029"/>
            <a:ext cx="5559552" cy="77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6"/>
              </a:lnSpc>
            </a:pPr>
            <a:r>
              <a:rPr lang="en-US" sz="27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 threats can be missed with catastrophic consequences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6384" y="7655460"/>
            <a:ext cx="4480560" cy="77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6"/>
              </a:lnSpc>
            </a:pPr>
            <a:r>
              <a:rPr lang="en-US" sz="27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False positives drain time and critical resources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6384" y="8818096"/>
            <a:ext cx="5815584" cy="777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0"/>
              </a:lnSpc>
            </a:pPr>
            <a:r>
              <a:rPr lang="en-US" sz="269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Commanders need a clear </a:t>
            </a:r>
            <a:r>
              <a:rPr lang="en-US" sz="2691">
                <a:solidFill>
                  <a:srgbClr val="C42020"/>
                </a:solidFill>
                <a:latin typeface="Poppins"/>
                <a:ea typeface="Poppins"/>
                <a:cs typeface="Poppins"/>
                <a:sym typeface="Poppins"/>
              </a:rPr>
              <a:t>BLUF</a:t>
            </a:r>
            <a:r>
              <a:rPr lang="en-US" sz="269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threat assessment within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5436086" y="2569017"/>
            <a:ext cx="3707914" cy="5148966"/>
          </a:xfrm>
          <a:custGeom>
            <a:avLst/>
            <a:gdLst/>
            <a:ahLst/>
            <a:cxnLst/>
            <a:rect l="l" t="t" r="r" b="b"/>
            <a:pathLst>
              <a:path w="3707914" h="5148966">
                <a:moveTo>
                  <a:pt x="0" y="0"/>
                </a:moveTo>
                <a:lnTo>
                  <a:pt x="3707914" y="0"/>
                </a:lnTo>
                <a:lnTo>
                  <a:pt x="3707914" y="5148966"/>
                </a:lnTo>
                <a:lnTo>
                  <a:pt x="0" y="5148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9090040" y="1924030"/>
            <a:ext cx="2187560" cy="6657580"/>
          </a:xfrm>
          <a:custGeom>
            <a:avLst/>
            <a:gdLst/>
            <a:ahLst/>
            <a:cxnLst/>
            <a:rect l="l" t="t" r="r" b="b"/>
            <a:pathLst>
              <a:path w="2187560" h="6657580">
                <a:moveTo>
                  <a:pt x="0" y="0"/>
                </a:moveTo>
                <a:lnTo>
                  <a:pt x="2187560" y="0"/>
                </a:lnTo>
                <a:lnTo>
                  <a:pt x="2187560" y="6657580"/>
                </a:lnTo>
                <a:lnTo>
                  <a:pt x="0" y="6657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9326880" y="4667900"/>
            <a:ext cx="1499616" cy="96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4"/>
              </a:lnSpc>
            </a:pPr>
            <a:r>
              <a:rPr lang="en-US" sz="194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MANUAL ALERT WORKFLOW</a:t>
            </a:r>
          </a:p>
        </p:txBody>
      </p:sp>
      <p:sp>
        <p:nvSpPr>
          <p:cNvPr id="6" name="Freeform 6"/>
          <p:cNvSpPr/>
          <p:nvPr/>
        </p:nvSpPr>
        <p:spPr>
          <a:xfrm>
            <a:off x="10883110" y="1924030"/>
            <a:ext cx="1312536" cy="437279"/>
          </a:xfrm>
          <a:custGeom>
            <a:avLst/>
            <a:gdLst/>
            <a:ahLst/>
            <a:cxnLst/>
            <a:rect l="l" t="t" r="r" b="b"/>
            <a:pathLst>
              <a:path w="1312536" h="437279">
                <a:moveTo>
                  <a:pt x="0" y="0"/>
                </a:moveTo>
                <a:lnTo>
                  <a:pt x="1312536" y="0"/>
                </a:lnTo>
                <a:lnTo>
                  <a:pt x="131253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2184708" y="1497682"/>
            <a:ext cx="5239206" cy="1289974"/>
          </a:xfrm>
          <a:custGeom>
            <a:avLst/>
            <a:gdLst/>
            <a:ahLst/>
            <a:cxnLst/>
            <a:rect l="l" t="t" r="r" b="b"/>
            <a:pathLst>
              <a:path w="5239206" h="1289974">
                <a:moveTo>
                  <a:pt x="0" y="0"/>
                </a:moveTo>
                <a:lnTo>
                  <a:pt x="5239206" y="0"/>
                </a:lnTo>
                <a:lnTo>
                  <a:pt x="5239206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2618720" y="1833059"/>
            <a:ext cx="3639312" cy="64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lang="en-US" sz="1967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Inconsistent formats require manual normalization</a:t>
            </a:r>
          </a:p>
        </p:txBody>
      </p:sp>
      <p:sp>
        <p:nvSpPr>
          <p:cNvPr id="9" name="Freeform 9"/>
          <p:cNvSpPr/>
          <p:nvPr/>
        </p:nvSpPr>
        <p:spPr>
          <a:xfrm>
            <a:off x="10883110" y="3214004"/>
            <a:ext cx="1312536" cy="437279"/>
          </a:xfrm>
          <a:custGeom>
            <a:avLst/>
            <a:gdLst/>
            <a:ahLst/>
            <a:cxnLst/>
            <a:rect l="l" t="t" r="r" b="b"/>
            <a:pathLst>
              <a:path w="1312536" h="437279">
                <a:moveTo>
                  <a:pt x="0" y="0"/>
                </a:moveTo>
                <a:lnTo>
                  <a:pt x="1312536" y="0"/>
                </a:lnTo>
                <a:lnTo>
                  <a:pt x="131253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2184708" y="2776725"/>
            <a:ext cx="5239206" cy="1300906"/>
          </a:xfrm>
          <a:custGeom>
            <a:avLst/>
            <a:gdLst/>
            <a:ahLst/>
            <a:cxnLst/>
            <a:rect l="l" t="t" r="r" b="b"/>
            <a:pathLst>
              <a:path w="5239206" h="1300906">
                <a:moveTo>
                  <a:pt x="0" y="0"/>
                </a:moveTo>
                <a:lnTo>
                  <a:pt x="5239206" y="0"/>
                </a:lnTo>
                <a:lnTo>
                  <a:pt x="523920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2618720" y="3118934"/>
            <a:ext cx="2926080" cy="64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lang="en-US" sz="1967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Duplicate alerts lead to wasted analyst time</a:t>
            </a:r>
          </a:p>
        </p:txBody>
      </p:sp>
      <p:sp>
        <p:nvSpPr>
          <p:cNvPr id="12" name="Freeform 12"/>
          <p:cNvSpPr/>
          <p:nvPr/>
        </p:nvSpPr>
        <p:spPr>
          <a:xfrm>
            <a:off x="10883110" y="4493047"/>
            <a:ext cx="1312536" cy="437279"/>
          </a:xfrm>
          <a:custGeom>
            <a:avLst/>
            <a:gdLst/>
            <a:ahLst/>
            <a:cxnLst/>
            <a:rect l="l" t="t" r="r" b="b"/>
            <a:pathLst>
              <a:path w="1312536" h="437279">
                <a:moveTo>
                  <a:pt x="0" y="0"/>
                </a:moveTo>
                <a:lnTo>
                  <a:pt x="1312536" y="0"/>
                </a:lnTo>
                <a:lnTo>
                  <a:pt x="131253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12184708" y="4066699"/>
            <a:ext cx="5239206" cy="1300906"/>
          </a:xfrm>
          <a:custGeom>
            <a:avLst/>
            <a:gdLst/>
            <a:ahLst/>
            <a:cxnLst/>
            <a:rect l="l" t="t" r="r" b="b"/>
            <a:pathLst>
              <a:path w="5239206" h="1300906">
                <a:moveTo>
                  <a:pt x="0" y="0"/>
                </a:moveTo>
                <a:lnTo>
                  <a:pt x="5239206" y="0"/>
                </a:lnTo>
                <a:lnTo>
                  <a:pt x="5239206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12618720" y="4415254"/>
            <a:ext cx="2926080" cy="6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1890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False positives demand manual filtering</a:t>
            </a:r>
          </a:p>
        </p:txBody>
      </p:sp>
      <p:sp>
        <p:nvSpPr>
          <p:cNvPr id="15" name="Freeform 15"/>
          <p:cNvSpPr/>
          <p:nvPr/>
        </p:nvSpPr>
        <p:spPr>
          <a:xfrm>
            <a:off x="10883110" y="5783021"/>
            <a:ext cx="1312536" cy="437279"/>
          </a:xfrm>
          <a:custGeom>
            <a:avLst/>
            <a:gdLst/>
            <a:ahLst/>
            <a:cxnLst/>
            <a:rect l="l" t="t" r="r" b="b"/>
            <a:pathLst>
              <a:path w="1312536" h="437279">
                <a:moveTo>
                  <a:pt x="0" y="0"/>
                </a:moveTo>
                <a:lnTo>
                  <a:pt x="1312536" y="0"/>
                </a:lnTo>
                <a:lnTo>
                  <a:pt x="131253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12184708" y="5356674"/>
            <a:ext cx="5239206" cy="1289974"/>
          </a:xfrm>
          <a:custGeom>
            <a:avLst/>
            <a:gdLst/>
            <a:ahLst/>
            <a:cxnLst/>
            <a:rect l="l" t="t" r="r" b="b"/>
            <a:pathLst>
              <a:path w="5239206" h="1289974">
                <a:moveTo>
                  <a:pt x="0" y="0"/>
                </a:moveTo>
                <a:lnTo>
                  <a:pt x="5239206" y="0"/>
                </a:lnTo>
                <a:lnTo>
                  <a:pt x="523920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12618720" y="5721104"/>
            <a:ext cx="3401568" cy="616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1916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Related alerts not grouped, investigated in isolation</a:t>
            </a:r>
          </a:p>
        </p:txBody>
      </p:sp>
      <p:sp>
        <p:nvSpPr>
          <p:cNvPr id="18" name="Freeform 18"/>
          <p:cNvSpPr/>
          <p:nvPr/>
        </p:nvSpPr>
        <p:spPr>
          <a:xfrm>
            <a:off x="10883110" y="7062064"/>
            <a:ext cx="1312536" cy="448211"/>
          </a:xfrm>
          <a:custGeom>
            <a:avLst/>
            <a:gdLst/>
            <a:ahLst/>
            <a:cxnLst/>
            <a:rect l="l" t="t" r="r" b="b"/>
            <a:pathLst>
              <a:path w="1312536" h="448211">
                <a:moveTo>
                  <a:pt x="0" y="0"/>
                </a:moveTo>
                <a:lnTo>
                  <a:pt x="1312536" y="0"/>
                </a:lnTo>
                <a:lnTo>
                  <a:pt x="131253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>
            <a:off x="12184708" y="6635716"/>
            <a:ext cx="5239206" cy="1300906"/>
          </a:xfrm>
          <a:custGeom>
            <a:avLst/>
            <a:gdLst/>
            <a:ahLst/>
            <a:cxnLst/>
            <a:rect l="l" t="t" r="r" b="b"/>
            <a:pathLst>
              <a:path w="5239206" h="1300906">
                <a:moveTo>
                  <a:pt x="0" y="0"/>
                </a:moveTo>
                <a:lnTo>
                  <a:pt x="5239206" y="0"/>
                </a:lnTo>
                <a:lnTo>
                  <a:pt x="5239206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TextBox 20"/>
          <p:cNvSpPr txBox="1"/>
          <p:nvPr/>
        </p:nvSpPr>
        <p:spPr>
          <a:xfrm>
            <a:off x="12618720" y="7006979"/>
            <a:ext cx="3730752" cy="616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1916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Mapping and risk assessment are inconsistent and slow</a:t>
            </a:r>
          </a:p>
        </p:txBody>
      </p:sp>
      <p:sp>
        <p:nvSpPr>
          <p:cNvPr id="21" name="Freeform 21"/>
          <p:cNvSpPr/>
          <p:nvPr/>
        </p:nvSpPr>
        <p:spPr>
          <a:xfrm>
            <a:off x="10883110" y="8352038"/>
            <a:ext cx="1312536" cy="437279"/>
          </a:xfrm>
          <a:custGeom>
            <a:avLst/>
            <a:gdLst/>
            <a:ahLst/>
            <a:cxnLst/>
            <a:rect l="l" t="t" r="r" b="b"/>
            <a:pathLst>
              <a:path w="1312536" h="437279">
                <a:moveTo>
                  <a:pt x="0" y="0"/>
                </a:moveTo>
                <a:lnTo>
                  <a:pt x="1312536" y="0"/>
                </a:lnTo>
                <a:lnTo>
                  <a:pt x="131253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Freeform 22"/>
          <p:cNvSpPr/>
          <p:nvPr/>
        </p:nvSpPr>
        <p:spPr>
          <a:xfrm>
            <a:off x="12184708" y="7925691"/>
            <a:ext cx="5239206" cy="1289974"/>
          </a:xfrm>
          <a:custGeom>
            <a:avLst/>
            <a:gdLst/>
            <a:ahLst/>
            <a:cxnLst/>
            <a:rect l="l" t="t" r="r" b="b"/>
            <a:pathLst>
              <a:path w="5239206" h="1289974">
                <a:moveTo>
                  <a:pt x="0" y="0"/>
                </a:moveTo>
                <a:lnTo>
                  <a:pt x="5239206" y="0"/>
                </a:lnTo>
                <a:lnTo>
                  <a:pt x="523920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TextBox 23"/>
          <p:cNvSpPr txBox="1"/>
          <p:nvPr/>
        </p:nvSpPr>
        <p:spPr>
          <a:xfrm>
            <a:off x="12618720" y="8283004"/>
            <a:ext cx="3364992" cy="62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4"/>
              </a:lnSpc>
            </a:pPr>
            <a:r>
              <a:rPr lang="en-US" sz="1865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Reporting takes time, delays command decisions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1520" y="1841709"/>
            <a:ext cx="4736592" cy="4416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81"/>
              </a:lnSpc>
            </a:pPr>
            <a:r>
              <a:rPr lang="en-US" sz="6881" b="1">
                <a:solidFill>
                  <a:srgbClr val="FFFFFF"/>
                </a:solidFill>
                <a:latin typeface="Poppins Heavy"/>
                <a:ea typeface="Poppins Heavy"/>
                <a:cs typeface="Poppins Heavy"/>
                <a:sym typeface="Poppins Heavy"/>
              </a:rPr>
              <a:t>WHY CURRENT ALERT HANDLING </a:t>
            </a:r>
            <a:r>
              <a:rPr lang="en-US" sz="6881" b="1">
                <a:solidFill>
                  <a:srgbClr val="D61616"/>
                </a:solidFill>
                <a:latin typeface="Poppins Heavy"/>
                <a:ea typeface="Poppins Heavy"/>
                <a:cs typeface="Poppins Heavy"/>
                <a:sym typeface="Poppins Heavy"/>
              </a:rPr>
              <a:t>FAILS</a:t>
            </a:r>
          </a:p>
        </p:txBody>
      </p:sp>
      <p:sp>
        <p:nvSpPr>
          <p:cNvPr id="25" name="Freeform 25"/>
          <p:cNvSpPr/>
          <p:nvPr/>
        </p:nvSpPr>
        <p:spPr>
          <a:xfrm>
            <a:off x="645330" y="6209369"/>
            <a:ext cx="5020450" cy="229572"/>
          </a:xfrm>
          <a:custGeom>
            <a:avLst/>
            <a:gdLst/>
            <a:ahLst/>
            <a:cxnLst/>
            <a:rect l="l" t="t" r="r" b="b"/>
            <a:pathLst>
              <a:path w="5020450" h="229572">
                <a:moveTo>
                  <a:pt x="0" y="0"/>
                </a:moveTo>
                <a:lnTo>
                  <a:pt x="5020450" y="0"/>
                </a:lnTo>
                <a:lnTo>
                  <a:pt x="5020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TextBox 26"/>
          <p:cNvSpPr txBox="1"/>
          <p:nvPr/>
        </p:nvSpPr>
        <p:spPr>
          <a:xfrm>
            <a:off x="731520" y="6658454"/>
            <a:ext cx="4937760" cy="136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2723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Manual workflows slow analysts down, create risk, and delay critical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147" y="-8772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713232" y="729277"/>
            <a:ext cx="10314432" cy="1873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28"/>
              </a:lnSpc>
            </a:pPr>
            <a:r>
              <a:rPr lang="en-US" sz="7587" b="1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INFINITY</a:t>
            </a:r>
          </a:p>
          <a:p>
            <a:pPr algn="l">
              <a:lnSpc>
                <a:spcPts val="6828"/>
              </a:lnSpc>
            </a:pPr>
            <a:r>
              <a:rPr lang="en-US" sz="7587" b="1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SOLUTION OVERVIEW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2776725"/>
            <a:ext cx="10467474" cy="229572"/>
          </a:xfrm>
          <a:custGeom>
            <a:avLst/>
            <a:gdLst/>
            <a:ahLst/>
            <a:cxnLst/>
            <a:rect l="l" t="t" r="r" b="b"/>
            <a:pathLst>
              <a:path w="10467474" h="229572">
                <a:moveTo>
                  <a:pt x="0" y="0"/>
                </a:moveTo>
                <a:lnTo>
                  <a:pt x="10467474" y="0"/>
                </a:lnTo>
                <a:lnTo>
                  <a:pt x="1046747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713232" y="3519169"/>
            <a:ext cx="2834640" cy="282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3"/>
              </a:lnSpc>
            </a:pPr>
            <a:r>
              <a:rPr lang="en-US" sz="2115" b="1">
                <a:solidFill>
                  <a:srgbClr val="C61A1A"/>
                </a:solidFill>
                <a:latin typeface="Poppins Bold"/>
                <a:ea typeface="Poppins Bold"/>
                <a:cs typeface="Poppins Bold"/>
                <a:sym typeface="Poppins Bold"/>
              </a:rPr>
              <a:t>INGEST &amp; NORMALISE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2475" y="4063276"/>
            <a:ext cx="7095744" cy="19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5"/>
              </a:lnSpc>
            </a:pPr>
            <a:r>
              <a:rPr lang="en-US" sz="1550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Consolidate multi-source alerts and remove duplicates automatically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3232" y="4702174"/>
            <a:ext cx="3364992" cy="282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3"/>
              </a:lnSpc>
            </a:pPr>
            <a:r>
              <a:rPr lang="en-US" sz="2115" b="1">
                <a:solidFill>
                  <a:srgbClr val="C61A1A"/>
                </a:solidFill>
                <a:latin typeface="Poppins Bold"/>
                <a:ea typeface="Poppins Bold"/>
                <a:cs typeface="Poppins Bold"/>
                <a:sym typeface="Poppins Bold"/>
              </a:rPr>
              <a:t>FOCUS ON REAL THREATS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13232" y="5126292"/>
            <a:ext cx="6419088" cy="207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3"/>
              </a:lnSpc>
            </a:pPr>
            <a:r>
              <a:rPr lang="en-US" sz="1593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Filter false positives to cut noise and reduce analyst workload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3232" y="5871095"/>
            <a:ext cx="2706624" cy="269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5"/>
              </a:lnSpc>
            </a:pPr>
            <a:r>
              <a:rPr lang="en-US" sz="2061" b="1">
                <a:solidFill>
                  <a:srgbClr val="C61A1A"/>
                </a:solidFill>
                <a:latin typeface="Poppins Bold"/>
                <a:ea typeface="Poppins Bold"/>
                <a:cs typeface="Poppins Bold"/>
                <a:sym typeface="Poppins Bold"/>
              </a:rPr>
              <a:t>CORRELATE &amp; SCORE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3232" y="6291962"/>
            <a:ext cx="6803136" cy="210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2"/>
              </a:lnSpc>
            </a:pPr>
            <a:r>
              <a:rPr lang="en-US" sz="1636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Link related alerts into incidents with risk and confidence scoring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3232" y="7033014"/>
            <a:ext cx="3584448" cy="271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9"/>
              </a:lnSpc>
            </a:pPr>
            <a:r>
              <a:rPr lang="en-US" sz="2088" b="1">
                <a:solidFill>
                  <a:srgbClr val="C61A1A"/>
                </a:solidFill>
                <a:latin typeface="Poppins Bold"/>
                <a:ea typeface="Poppins Bold"/>
                <a:cs typeface="Poppins Bold"/>
                <a:sym typeface="Poppins Bold"/>
              </a:rPr>
              <a:t>UNDERSTAND &amp; PRIORITISE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3232" y="7434523"/>
            <a:ext cx="6912864" cy="230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lang="en-US" sz="1679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Map behaviour to MITRE ATT&amp;CK and generate BLUF summaries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3232" y="8206244"/>
            <a:ext cx="3310128" cy="269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5"/>
              </a:lnSpc>
            </a:pPr>
            <a:r>
              <a:rPr lang="en-US" sz="2061" b="1">
                <a:solidFill>
                  <a:srgbClr val="C61A1A"/>
                </a:solidFill>
                <a:latin typeface="Poppins Bold"/>
                <a:ea typeface="Poppins Bold"/>
                <a:cs typeface="Poppins Bold"/>
                <a:sym typeface="Poppins Bold"/>
              </a:rPr>
              <a:t>AI-POWERED REASONING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2376" y="8743307"/>
            <a:ext cx="7150608" cy="207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3"/>
              </a:lnSpc>
            </a:pPr>
            <a:r>
              <a:rPr lang="en-US" sz="1593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Use IBM Bob AI for evidence-backed analysis and recommendations</a:t>
            </a:r>
          </a:p>
        </p:txBody>
      </p:sp>
      <p:sp>
        <p:nvSpPr>
          <p:cNvPr id="15" name="Freeform 15"/>
          <p:cNvSpPr/>
          <p:nvPr/>
        </p:nvSpPr>
        <p:spPr>
          <a:xfrm>
            <a:off x="7831464" y="3421712"/>
            <a:ext cx="1750048" cy="4722618"/>
          </a:xfrm>
          <a:custGeom>
            <a:avLst/>
            <a:gdLst/>
            <a:ahLst/>
            <a:cxnLst/>
            <a:rect l="l" t="t" r="r" b="b"/>
            <a:pathLst>
              <a:path w="1750048" h="4722618">
                <a:moveTo>
                  <a:pt x="0" y="0"/>
                </a:moveTo>
                <a:lnTo>
                  <a:pt x="1750048" y="0"/>
                </a:lnTo>
                <a:lnTo>
                  <a:pt x="1750048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8211312" y="5445087"/>
            <a:ext cx="1261872" cy="341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1"/>
              </a:lnSpc>
            </a:pPr>
            <a:r>
              <a:rPr lang="en-US" sz="1291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MULTI-SOURCE ALERT FEEDS</a:t>
            </a:r>
          </a:p>
        </p:txBody>
      </p:sp>
      <p:sp>
        <p:nvSpPr>
          <p:cNvPr id="17" name="Freeform 17"/>
          <p:cNvSpPr/>
          <p:nvPr/>
        </p:nvSpPr>
        <p:spPr>
          <a:xfrm>
            <a:off x="9570574" y="3421712"/>
            <a:ext cx="1542230" cy="4722618"/>
          </a:xfrm>
          <a:custGeom>
            <a:avLst/>
            <a:gdLst/>
            <a:ahLst/>
            <a:cxnLst/>
            <a:rect l="l" t="t" r="r" b="b"/>
            <a:pathLst>
              <a:path w="1542230" h="4722618">
                <a:moveTo>
                  <a:pt x="0" y="0"/>
                </a:moveTo>
                <a:lnTo>
                  <a:pt x="1542230" y="0"/>
                </a:lnTo>
                <a:lnTo>
                  <a:pt x="1542230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TextBox 18"/>
          <p:cNvSpPr txBox="1"/>
          <p:nvPr/>
        </p:nvSpPr>
        <p:spPr>
          <a:xfrm>
            <a:off x="9857232" y="5318043"/>
            <a:ext cx="1133856" cy="586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7"/>
              </a:lnSpc>
            </a:pPr>
            <a:r>
              <a:rPr lang="en-US" sz="1507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NORMALISE &amp; DUPLICATE</a:t>
            </a:r>
          </a:p>
        </p:txBody>
      </p:sp>
      <p:sp>
        <p:nvSpPr>
          <p:cNvPr id="19" name="Freeform 19"/>
          <p:cNvSpPr/>
          <p:nvPr/>
        </p:nvSpPr>
        <p:spPr>
          <a:xfrm>
            <a:off x="11101866" y="3421712"/>
            <a:ext cx="1531292" cy="4722618"/>
          </a:xfrm>
          <a:custGeom>
            <a:avLst/>
            <a:gdLst/>
            <a:ahLst/>
            <a:cxnLst/>
            <a:rect l="l" t="t" r="r" b="b"/>
            <a:pathLst>
              <a:path w="1531292" h="4722618">
                <a:moveTo>
                  <a:pt x="0" y="0"/>
                </a:moveTo>
                <a:lnTo>
                  <a:pt x="1531292" y="0"/>
                </a:lnTo>
                <a:lnTo>
                  <a:pt x="1531292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TextBox 20"/>
          <p:cNvSpPr txBox="1"/>
          <p:nvPr/>
        </p:nvSpPr>
        <p:spPr>
          <a:xfrm>
            <a:off x="11484864" y="5318043"/>
            <a:ext cx="987552" cy="586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7"/>
              </a:lnSpc>
            </a:pPr>
            <a:r>
              <a:rPr lang="en-US" sz="1507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FILTER FALSE POSITIVES</a:t>
            </a:r>
          </a:p>
        </p:txBody>
      </p:sp>
      <p:sp>
        <p:nvSpPr>
          <p:cNvPr id="21" name="Freeform 21"/>
          <p:cNvSpPr/>
          <p:nvPr/>
        </p:nvSpPr>
        <p:spPr>
          <a:xfrm>
            <a:off x="12622220" y="3421712"/>
            <a:ext cx="1531292" cy="4722618"/>
          </a:xfrm>
          <a:custGeom>
            <a:avLst/>
            <a:gdLst/>
            <a:ahLst/>
            <a:cxnLst/>
            <a:rect l="l" t="t" r="r" b="b"/>
            <a:pathLst>
              <a:path w="1531292" h="4722618">
                <a:moveTo>
                  <a:pt x="0" y="0"/>
                </a:moveTo>
                <a:lnTo>
                  <a:pt x="1531292" y="0"/>
                </a:lnTo>
                <a:lnTo>
                  <a:pt x="1531292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TextBox 22"/>
          <p:cNvSpPr txBox="1"/>
          <p:nvPr/>
        </p:nvSpPr>
        <p:spPr>
          <a:xfrm>
            <a:off x="13021056" y="5336081"/>
            <a:ext cx="950976" cy="550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lang="en-US" sz="1377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ROADWIDE MITRA ATTACK</a:t>
            </a:r>
          </a:p>
        </p:txBody>
      </p:sp>
      <p:sp>
        <p:nvSpPr>
          <p:cNvPr id="23" name="Freeform 23"/>
          <p:cNvSpPr/>
          <p:nvPr/>
        </p:nvSpPr>
        <p:spPr>
          <a:xfrm>
            <a:off x="14361330" y="3421712"/>
            <a:ext cx="1542230" cy="4722618"/>
          </a:xfrm>
          <a:custGeom>
            <a:avLst/>
            <a:gdLst/>
            <a:ahLst/>
            <a:cxnLst/>
            <a:rect l="l" t="t" r="r" b="b"/>
            <a:pathLst>
              <a:path w="1542230" h="4722618">
                <a:moveTo>
                  <a:pt x="0" y="0"/>
                </a:moveTo>
                <a:lnTo>
                  <a:pt x="1542230" y="0"/>
                </a:lnTo>
                <a:lnTo>
                  <a:pt x="1542230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4" name="TextBox 24"/>
          <p:cNvSpPr txBox="1"/>
          <p:nvPr/>
        </p:nvSpPr>
        <p:spPr>
          <a:xfrm>
            <a:off x="14612112" y="5456566"/>
            <a:ext cx="950976" cy="318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8"/>
              </a:lnSpc>
            </a:pPr>
            <a:r>
              <a:rPr lang="en-US" sz="1248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IBM BOB AI REASONING</a:t>
            </a:r>
          </a:p>
        </p:txBody>
      </p:sp>
      <p:sp>
        <p:nvSpPr>
          <p:cNvPr id="25" name="Freeform 25"/>
          <p:cNvSpPr/>
          <p:nvPr/>
        </p:nvSpPr>
        <p:spPr>
          <a:xfrm>
            <a:off x="15892622" y="3421712"/>
            <a:ext cx="1968804" cy="4514911"/>
          </a:xfrm>
          <a:custGeom>
            <a:avLst/>
            <a:gdLst/>
            <a:ahLst/>
            <a:cxnLst/>
            <a:rect l="l" t="t" r="r" b="b"/>
            <a:pathLst>
              <a:path w="1968804" h="4514911">
                <a:moveTo>
                  <a:pt x="0" y="0"/>
                </a:moveTo>
                <a:lnTo>
                  <a:pt x="1968804" y="0"/>
                </a:lnTo>
                <a:lnTo>
                  <a:pt x="1968804" y="4514911"/>
                </a:lnTo>
                <a:lnTo>
                  <a:pt x="0" y="45149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TextBox 26"/>
          <p:cNvSpPr txBox="1"/>
          <p:nvPr/>
        </p:nvSpPr>
        <p:spPr>
          <a:xfrm>
            <a:off x="16349472" y="5055777"/>
            <a:ext cx="1133856" cy="204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6"/>
              </a:lnSpc>
            </a:pPr>
            <a:r>
              <a:rPr lang="en-US" sz="1496" b="1">
                <a:solidFill>
                  <a:srgbClr val="C61A1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PRIORITISED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386048" y="5403080"/>
            <a:ext cx="1115568" cy="527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5"/>
              </a:lnSpc>
            </a:pPr>
            <a:r>
              <a:rPr lang="en-US" sz="3745" b="1">
                <a:solidFill>
                  <a:srgbClr val="C61A1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BLUF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386048" y="6146609"/>
            <a:ext cx="1115568" cy="203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4"/>
              </a:lnSpc>
            </a:pPr>
            <a:r>
              <a:rPr lang="en-US" sz="1464" b="1">
                <a:solidFill>
                  <a:srgbClr val="C61A1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SUMMARIES</a:t>
            </a:r>
          </a:p>
        </p:txBody>
      </p:sp>
      <p:sp>
        <p:nvSpPr>
          <p:cNvPr id="29" name="Freeform 29"/>
          <p:cNvSpPr/>
          <p:nvPr/>
        </p:nvSpPr>
        <p:spPr>
          <a:xfrm>
            <a:off x="8925244" y="5990729"/>
            <a:ext cx="875024" cy="448211"/>
          </a:xfrm>
          <a:custGeom>
            <a:avLst/>
            <a:gdLst/>
            <a:ahLst/>
            <a:cxnLst/>
            <a:rect l="l" t="t" r="r" b="b"/>
            <a:pathLst>
              <a:path w="875024" h="448211">
                <a:moveTo>
                  <a:pt x="0" y="0"/>
                </a:moveTo>
                <a:lnTo>
                  <a:pt x="875024" y="0"/>
                </a:lnTo>
                <a:lnTo>
                  <a:pt x="87502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" name="Freeform 30"/>
          <p:cNvSpPr/>
          <p:nvPr/>
        </p:nvSpPr>
        <p:spPr>
          <a:xfrm>
            <a:off x="10664354" y="5990729"/>
            <a:ext cx="667206" cy="448211"/>
          </a:xfrm>
          <a:custGeom>
            <a:avLst/>
            <a:gdLst/>
            <a:ahLst/>
            <a:cxnLst/>
            <a:rect l="l" t="t" r="r" b="b"/>
            <a:pathLst>
              <a:path w="667206" h="448211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1" name="Freeform 31"/>
          <p:cNvSpPr/>
          <p:nvPr/>
        </p:nvSpPr>
        <p:spPr>
          <a:xfrm>
            <a:off x="12184708" y="5990729"/>
            <a:ext cx="667206" cy="448211"/>
          </a:xfrm>
          <a:custGeom>
            <a:avLst/>
            <a:gdLst/>
            <a:ahLst/>
            <a:cxnLst/>
            <a:rect l="l" t="t" r="r" b="b"/>
            <a:pathLst>
              <a:path w="667206" h="448211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2" name="Freeform 32"/>
          <p:cNvSpPr/>
          <p:nvPr/>
        </p:nvSpPr>
        <p:spPr>
          <a:xfrm>
            <a:off x="13716000" y="5990729"/>
            <a:ext cx="875024" cy="448211"/>
          </a:xfrm>
          <a:custGeom>
            <a:avLst/>
            <a:gdLst/>
            <a:ahLst/>
            <a:cxnLst/>
            <a:rect l="l" t="t" r="r" b="b"/>
            <a:pathLst>
              <a:path w="875024" h="448211">
                <a:moveTo>
                  <a:pt x="0" y="0"/>
                </a:moveTo>
                <a:lnTo>
                  <a:pt x="875024" y="0"/>
                </a:lnTo>
                <a:lnTo>
                  <a:pt x="87502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3" name="Freeform 33"/>
          <p:cNvSpPr/>
          <p:nvPr/>
        </p:nvSpPr>
        <p:spPr>
          <a:xfrm>
            <a:off x="15236354" y="5990729"/>
            <a:ext cx="875024" cy="448211"/>
          </a:xfrm>
          <a:custGeom>
            <a:avLst/>
            <a:gdLst/>
            <a:ahLst/>
            <a:cxnLst/>
            <a:rect l="l" t="t" r="r" b="b"/>
            <a:pathLst>
              <a:path w="875024" h="448211">
                <a:moveTo>
                  <a:pt x="0" y="0"/>
                </a:moveTo>
                <a:lnTo>
                  <a:pt x="875024" y="0"/>
                </a:lnTo>
                <a:lnTo>
                  <a:pt x="87502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990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548640" y="70776"/>
            <a:ext cx="5559552" cy="130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18"/>
              </a:lnSpc>
            </a:pPr>
            <a:r>
              <a:rPr lang="en-US" sz="722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WORKFLOW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82512" y="66411"/>
            <a:ext cx="6437376" cy="1313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0"/>
              </a:lnSpc>
            </a:pPr>
            <a:r>
              <a:rPr lang="en-US" sz="7314" b="1">
                <a:solidFill>
                  <a:srgbClr val="D12626"/>
                </a:solidFill>
                <a:latin typeface="Poppins Bold"/>
                <a:ea typeface="Poppins Bold"/>
                <a:cs typeface="Poppins Bold"/>
                <a:sym typeface="Poppins Bold"/>
              </a:rPr>
              <a:t>COMPARISON</a:t>
            </a:r>
          </a:p>
        </p:txBody>
      </p:sp>
      <p:sp>
        <p:nvSpPr>
          <p:cNvPr id="5" name="Freeform 5"/>
          <p:cNvSpPr/>
          <p:nvPr/>
        </p:nvSpPr>
        <p:spPr>
          <a:xfrm>
            <a:off x="2384440" y="1497682"/>
            <a:ext cx="4156364" cy="863627"/>
          </a:xfrm>
          <a:custGeom>
            <a:avLst/>
            <a:gdLst/>
            <a:ahLst/>
            <a:cxnLst/>
            <a:rect l="l" t="t" r="r" b="b"/>
            <a:pathLst>
              <a:path w="4156364" h="863627">
                <a:moveTo>
                  <a:pt x="0" y="0"/>
                </a:moveTo>
                <a:lnTo>
                  <a:pt x="4156364" y="0"/>
                </a:lnTo>
                <a:lnTo>
                  <a:pt x="415636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2852928" y="1596008"/>
            <a:ext cx="3145536" cy="497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13"/>
              </a:lnSpc>
            </a:pPr>
            <a:r>
              <a:rPr lang="en-US" sz="2723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WITHOUT INFINITY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976150" y="2436634"/>
            <a:ext cx="3035808" cy="504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12"/>
              </a:lnSpc>
            </a:pPr>
            <a:r>
              <a:rPr lang="en-US" sz="225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Receiving alerts</a:t>
            </a:r>
          </a:p>
          <a:p>
            <a:pPr>
              <a:lnSpc>
                <a:spcPts val="3612"/>
              </a:lnSpc>
            </a:pPr>
            <a:r>
              <a:rPr lang="en-US" sz="225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Checking formats</a:t>
            </a:r>
          </a:p>
          <a:p>
            <a:pPr>
              <a:lnSpc>
                <a:spcPts val="3612"/>
              </a:lnSpc>
            </a:pPr>
            <a:r>
              <a:rPr lang="en-US" sz="225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Removing duplicates</a:t>
            </a:r>
          </a:p>
          <a:p>
            <a:pPr>
              <a:lnSpc>
                <a:spcPts val="3612"/>
              </a:lnSpc>
            </a:pPr>
            <a:r>
              <a:rPr lang="en-US" sz="225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False positive checks</a:t>
            </a:r>
          </a:p>
          <a:p>
            <a:pPr>
              <a:lnSpc>
                <a:spcPts val="3612"/>
              </a:lnSpc>
            </a:pPr>
            <a:r>
              <a:rPr lang="en-US" sz="225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Manual grouping</a:t>
            </a:r>
          </a:p>
          <a:p>
            <a:pPr>
              <a:lnSpc>
                <a:spcPts val="3612"/>
              </a:lnSpc>
            </a:pPr>
            <a:r>
              <a:rPr lang="en-US" sz="225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Investigating</a:t>
            </a:r>
          </a:p>
          <a:p>
            <a:pPr>
              <a:lnSpc>
                <a:spcPts val="3612"/>
              </a:lnSpc>
            </a:pPr>
            <a:r>
              <a:rPr lang="en-US" sz="225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MITRE mapping</a:t>
            </a:r>
          </a:p>
          <a:p>
            <a:pPr>
              <a:lnSpc>
                <a:spcPts val="3612"/>
              </a:lnSpc>
            </a:pPr>
            <a:r>
              <a:rPr lang="en-US" sz="225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Risk assessment</a:t>
            </a:r>
          </a:p>
          <a:p>
            <a:pPr>
              <a:lnSpc>
                <a:spcPts val="3612"/>
              </a:lnSpc>
            </a:pPr>
            <a:r>
              <a:rPr lang="en-US" sz="225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Report writing</a:t>
            </a:r>
          </a:p>
          <a:p>
            <a:pPr>
              <a:lnSpc>
                <a:spcPts val="3612"/>
              </a:lnSpc>
            </a:pPr>
            <a:r>
              <a:rPr lang="en-US" sz="225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Commander delivery</a:t>
            </a:r>
          </a:p>
        </p:txBody>
      </p:sp>
      <p:sp>
        <p:nvSpPr>
          <p:cNvPr id="9" name="Freeform 9"/>
          <p:cNvSpPr/>
          <p:nvPr/>
        </p:nvSpPr>
        <p:spPr>
          <a:xfrm>
            <a:off x="8487732" y="1924030"/>
            <a:ext cx="448450" cy="6012593"/>
          </a:xfrm>
          <a:custGeom>
            <a:avLst/>
            <a:gdLst/>
            <a:ahLst/>
            <a:cxnLst/>
            <a:rect l="l" t="t" r="r" b="b"/>
            <a:pathLst>
              <a:path w="448450" h="6012593">
                <a:moveTo>
                  <a:pt x="0" y="0"/>
                </a:moveTo>
                <a:lnTo>
                  <a:pt x="448450" y="0"/>
                </a:lnTo>
                <a:lnTo>
                  <a:pt x="448450" y="6012593"/>
                </a:lnTo>
                <a:lnTo>
                  <a:pt x="0" y="60125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0721435" y="1496454"/>
            <a:ext cx="3926670" cy="863627"/>
          </a:xfrm>
          <a:custGeom>
            <a:avLst/>
            <a:gdLst/>
            <a:ahLst/>
            <a:cxnLst/>
            <a:rect l="l" t="t" r="r" b="b"/>
            <a:pathLst>
              <a:path w="3926670" h="863627">
                <a:moveTo>
                  <a:pt x="0" y="0"/>
                </a:moveTo>
                <a:lnTo>
                  <a:pt x="3926670" y="0"/>
                </a:lnTo>
                <a:lnTo>
                  <a:pt x="392667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1477762" y="1609249"/>
            <a:ext cx="2414016" cy="497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13"/>
              </a:lnSpc>
            </a:pPr>
            <a:r>
              <a:rPr lang="en-US" sz="2723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WITH INFINITY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29582" y="2509011"/>
            <a:ext cx="4726114" cy="50909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91"/>
              </a:lnSpc>
            </a:pPr>
            <a:r>
              <a:rPr lang="en-US" sz="249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Multi-source </a:t>
            </a:r>
            <a:r>
              <a:rPr lang="en-US" sz="249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ingestation</a:t>
            </a:r>
            <a:endParaRPr lang="en-US" sz="2494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lnSpc>
                <a:spcPts val="3991"/>
              </a:lnSpc>
            </a:pPr>
            <a:r>
              <a:rPr lang="en-US" sz="249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Normalization/deduplication</a:t>
            </a:r>
          </a:p>
          <a:p>
            <a:pPr>
              <a:lnSpc>
                <a:spcPts val="3991"/>
              </a:lnSpc>
            </a:pPr>
            <a:r>
              <a:rPr lang="en-US" sz="249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False positive filtering</a:t>
            </a:r>
          </a:p>
          <a:p>
            <a:pPr>
              <a:lnSpc>
                <a:spcPts val="3991"/>
              </a:lnSpc>
            </a:pPr>
            <a:r>
              <a:rPr lang="en-US" sz="249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Correlation</a:t>
            </a:r>
          </a:p>
          <a:p>
            <a:pPr>
              <a:lnSpc>
                <a:spcPts val="3991"/>
              </a:lnSpc>
            </a:pPr>
            <a:r>
              <a:rPr lang="en-US" sz="249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Scoring</a:t>
            </a:r>
          </a:p>
          <a:p>
            <a:pPr>
              <a:lnSpc>
                <a:spcPts val="3991"/>
              </a:lnSpc>
            </a:pPr>
            <a:r>
              <a:rPr lang="en-US" sz="249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MITRE mapping</a:t>
            </a:r>
          </a:p>
          <a:p>
            <a:pPr>
              <a:lnSpc>
                <a:spcPts val="3991"/>
              </a:lnSpc>
            </a:pPr>
            <a:r>
              <a:rPr lang="en-US" sz="249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IBM Bob AI reasoning</a:t>
            </a:r>
          </a:p>
          <a:p>
            <a:pPr>
              <a:lnSpc>
                <a:spcPts val="3991"/>
              </a:lnSpc>
            </a:pPr>
            <a:r>
              <a:rPr lang="en-US" sz="249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BLUF summary</a:t>
            </a:r>
          </a:p>
          <a:p>
            <a:pPr>
              <a:lnSpc>
                <a:spcPts val="3991"/>
              </a:lnSpc>
            </a:pPr>
            <a:r>
              <a:rPr lang="en-US" sz="249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Defence</a:t>
            </a:r>
            <a:r>
              <a:rPr lang="en-US" sz="249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analyst &amp; commander</a:t>
            </a:r>
          </a:p>
        </p:txBody>
      </p:sp>
      <p:sp>
        <p:nvSpPr>
          <p:cNvPr id="14" name="Freeform 14"/>
          <p:cNvSpPr/>
          <p:nvPr/>
        </p:nvSpPr>
        <p:spPr>
          <a:xfrm>
            <a:off x="426574" y="8352038"/>
            <a:ext cx="17434852" cy="229572"/>
          </a:xfrm>
          <a:custGeom>
            <a:avLst/>
            <a:gdLst/>
            <a:ahLst/>
            <a:cxnLst/>
            <a:rect l="l" t="t" r="r" b="b"/>
            <a:pathLst>
              <a:path w="17434852" h="229572">
                <a:moveTo>
                  <a:pt x="0" y="0"/>
                </a:moveTo>
                <a:lnTo>
                  <a:pt x="17434852" y="0"/>
                </a:lnTo>
                <a:lnTo>
                  <a:pt x="1743485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2560320" y="8530057"/>
            <a:ext cx="13185648" cy="694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3"/>
              </a:lnSpc>
            </a:pPr>
            <a:r>
              <a:rPr lang="en-US" sz="385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MANY MANUAL STEPS → </a:t>
            </a:r>
            <a:r>
              <a:rPr lang="en-US" sz="3859" b="1">
                <a:solidFill>
                  <a:srgbClr val="D12626"/>
                </a:solidFill>
                <a:latin typeface="Poppins Bold"/>
                <a:ea typeface="Poppins Bold"/>
                <a:cs typeface="Poppins Bold"/>
                <a:sym typeface="Poppins Bold"/>
              </a:rPr>
              <a:t>ONE INTELLIGENT WORKFLOW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432304" y="9277294"/>
            <a:ext cx="13423392" cy="440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6"/>
              </a:lnSpc>
            </a:pPr>
            <a:r>
              <a:rPr lang="en-US" sz="249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Analysts spend less time processing alerts and more time investigating real threats.</a:t>
            </a:r>
          </a:p>
        </p:txBody>
      </p:sp>
      <p:sp>
        <p:nvSpPr>
          <p:cNvPr id="17" name="Freeform 17"/>
          <p:cNvSpPr/>
          <p:nvPr/>
        </p:nvSpPr>
        <p:spPr>
          <a:xfrm>
            <a:off x="426574" y="9849721"/>
            <a:ext cx="17434852" cy="229572"/>
          </a:xfrm>
          <a:custGeom>
            <a:avLst/>
            <a:gdLst/>
            <a:ahLst/>
            <a:cxnLst/>
            <a:rect l="l" t="t" r="r" b="b"/>
            <a:pathLst>
              <a:path w="17434852" h="229572">
                <a:moveTo>
                  <a:pt x="0" y="0"/>
                </a:moveTo>
                <a:lnTo>
                  <a:pt x="17434852" y="0"/>
                </a:lnTo>
                <a:lnTo>
                  <a:pt x="1743485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5" name="Arrow: Striped Right 64">
            <a:extLst>
              <a:ext uri="{FF2B5EF4-FFF2-40B4-BE49-F238E27FC236}">
                <a16:creationId xmlns:a16="http://schemas.microsoft.com/office/drawing/2014/main" id="{B1A3A4CB-BAD1-185E-AD49-A8F9AAE13AC3}"/>
              </a:ext>
            </a:extLst>
          </p:cNvPr>
          <p:cNvSpPr/>
          <p:nvPr/>
        </p:nvSpPr>
        <p:spPr>
          <a:xfrm>
            <a:off x="2280262" y="2537790"/>
            <a:ext cx="609790" cy="362283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Arrow: Striped Right 66">
            <a:extLst>
              <a:ext uri="{FF2B5EF4-FFF2-40B4-BE49-F238E27FC236}">
                <a16:creationId xmlns:a16="http://schemas.microsoft.com/office/drawing/2014/main" id="{A4ECFA04-16FE-CA08-B502-E1ABFD4786B8}"/>
              </a:ext>
            </a:extLst>
          </p:cNvPr>
          <p:cNvSpPr/>
          <p:nvPr/>
        </p:nvSpPr>
        <p:spPr>
          <a:xfrm>
            <a:off x="2289604" y="3056993"/>
            <a:ext cx="609790" cy="362283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Arrow: Striped Right 68">
            <a:extLst>
              <a:ext uri="{FF2B5EF4-FFF2-40B4-BE49-F238E27FC236}">
                <a16:creationId xmlns:a16="http://schemas.microsoft.com/office/drawing/2014/main" id="{F75DBEA4-9142-BA24-0BBD-C7F4039D7C90}"/>
              </a:ext>
            </a:extLst>
          </p:cNvPr>
          <p:cNvSpPr/>
          <p:nvPr/>
        </p:nvSpPr>
        <p:spPr>
          <a:xfrm>
            <a:off x="2280262" y="3438175"/>
            <a:ext cx="609790" cy="362283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Arrow: Striped Right 70">
            <a:extLst>
              <a:ext uri="{FF2B5EF4-FFF2-40B4-BE49-F238E27FC236}">
                <a16:creationId xmlns:a16="http://schemas.microsoft.com/office/drawing/2014/main" id="{11230A68-C526-5431-6849-8BF62DF91EF9}"/>
              </a:ext>
            </a:extLst>
          </p:cNvPr>
          <p:cNvSpPr/>
          <p:nvPr/>
        </p:nvSpPr>
        <p:spPr>
          <a:xfrm>
            <a:off x="2323311" y="3877457"/>
            <a:ext cx="609790" cy="362283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Arrow: Striped Right 72">
            <a:extLst>
              <a:ext uri="{FF2B5EF4-FFF2-40B4-BE49-F238E27FC236}">
                <a16:creationId xmlns:a16="http://schemas.microsoft.com/office/drawing/2014/main" id="{1EEE242D-1986-80B3-C66F-76362A5F3161}"/>
              </a:ext>
            </a:extLst>
          </p:cNvPr>
          <p:cNvSpPr/>
          <p:nvPr/>
        </p:nvSpPr>
        <p:spPr>
          <a:xfrm>
            <a:off x="2289604" y="4357029"/>
            <a:ext cx="609790" cy="362283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Arrow: Striped Right 74">
            <a:extLst>
              <a:ext uri="{FF2B5EF4-FFF2-40B4-BE49-F238E27FC236}">
                <a16:creationId xmlns:a16="http://schemas.microsoft.com/office/drawing/2014/main" id="{F5C894D5-6FC4-3486-3F40-CE60AA2E48C5}"/>
              </a:ext>
            </a:extLst>
          </p:cNvPr>
          <p:cNvSpPr/>
          <p:nvPr/>
        </p:nvSpPr>
        <p:spPr>
          <a:xfrm>
            <a:off x="2280262" y="4851087"/>
            <a:ext cx="609790" cy="362283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Arrow: Striped Right 76">
            <a:extLst>
              <a:ext uri="{FF2B5EF4-FFF2-40B4-BE49-F238E27FC236}">
                <a16:creationId xmlns:a16="http://schemas.microsoft.com/office/drawing/2014/main" id="{441EA1C6-3549-8A61-0AA0-AA9C2B100A6B}"/>
              </a:ext>
            </a:extLst>
          </p:cNvPr>
          <p:cNvSpPr/>
          <p:nvPr/>
        </p:nvSpPr>
        <p:spPr>
          <a:xfrm>
            <a:off x="2212848" y="5260931"/>
            <a:ext cx="609790" cy="362283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Arrow: Striped Right 78">
            <a:extLst>
              <a:ext uri="{FF2B5EF4-FFF2-40B4-BE49-F238E27FC236}">
                <a16:creationId xmlns:a16="http://schemas.microsoft.com/office/drawing/2014/main" id="{19AF2C71-C366-DECF-3082-54D190F26886}"/>
              </a:ext>
            </a:extLst>
          </p:cNvPr>
          <p:cNvSpPr/>
          <p:nvPr/>
        </p:nvSpPr>
        <p:spPr>
          <a:xfrm>
            <a:off x="2194164" y="5689153"/>
            <a:ext cx="609790" cy="362283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Arrow: Striped Right 80">
            <a:extLst>
              <a:ext uri="{FF2B5EF4-FFF2-40B4-BE49-F238E27FC236}">
                <a16:creationId xmlns:a16="http://schemas.microsoft.com/office/drawing/2014/main" id="{9337A39D-EF04-4D73-7CFE-F24216131A94}"/>
              </a:ext>
            </a:extLst>
          </p:cNvPr>
          <p:cNvSpPr/>
          <p:nvPr/>
        </p:nvSpPr>
        <p:spPr>
          <a:xfrm>
            <a:off x="2162388" y="6146557"/>
            <a:ext cx="609790" cy="362283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" name="Arrow: Striped Right 82">
            <a:extLst>
              <a:ext uri="{FF2B5EF4-FFF2-40B4-BE49-F238E27FC236}">
                <a16:creationId xmlns:a16="http://schemas.microsoft.com/office/drawing/2014/main" id="{77E2ECB5-9266-EE50-85EF-D7D1600C71B3}"/>
              </a:ext>
            </a:extLst>
          </p:cNvPr>
          <p:cNvSpPr/>
          <p:nvPr/>
        </p:nvSpPr>
        <p:spPr>
          <a:xfrm>
            <a:off x="2174961" y="6620150"/>
            <a:ext cx="609790" cy="362283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Arrow: Striped Right 84">
            <a:extLst>
              <a:ext uri="{FF2B5EF4-FFF2-40B4-BE49-F238E27FC236}">
                <a16:creationId xmlns:a16="http://schemas.microsoft.com/office/drawing/2014/main" id="{4AE8F7FA-B24F-DA71-ACB3-6C6EBBDDD452}"/>
              </a:ext>
            </a:extLst>
          </p:cNvPr>
          <p:cNvSpPr/>
          <p:nvPr/>
        </p:nvSpPr>
        <p:spPr>
          <a:xfrm>
            <a:off x="2162388" y="7106092"/>
            <a:ext cx="609790" cy="362283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7" name="Arrow: Striped Right 86">
            <a:extLst>
              <a:ext uri="{FF2B5EF4-FFF2-40B4-BE49-F238E27FC236}">
                <a16:creationId xmlns:a16="http://schemas.microsoft.com/office/drawing/2014/main" id="{BC0799C3-9687-116B-4C71-718ED54157E9}"/>
              </a:ext>
            </a:extLst>
          </p:cNvPr>
          <p:cNvSpPr/>
          <p:nvPr/>
        </p:nvSpPr>
        <p:spPr>
          <a:xfrm>
            <a:off x="10334851" y="2651914"/>
            <a:ext cx="609790" cy="362283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9" name="Arrow: Striped Right 88">
            <a:extLst>
              <a:ext uri="{FF2B5EF4-FFF2-40B4-BE49-F238E27FC236}">
                <a16:creationId xmlns:a16="http://schemas.microsoft.com/office/drawing/2014/main" id="{67027D6B-7EFA-ED55-A318-76E184F09A40}"/>
              </a:ext>
            </a:extLst>
          </p:cNvPr>
          <p:cNvSpPr/>
          <p:nvPr/>
        </p:nvSpPr>
        <p:spPr>
          <a:xfrm>
            <a:off x="10334851" y="3119575"/>
            <a:ext cx="609790" cy="362283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Arrow: Striped Right 90">
            <a:extLst>
              <a:ext uri="{FF2B5EF4-FFF2-40B4-BE49-F238E27FC236}">
                <a16:creationId xmlns:a16="http://schemas.microsoft.com/office/drawing/2014/main" id="{34964068-06E3-96C4-DD35-00E31A08592E}"/>
              </a:ext>
            </a:extLst>
          </p:cNvPr>
          <p:cNvSpPr/>
          <p:nvPr/>
        </p:nvSpPr>
        <p:spPr>
          <a:xfrm>
            <a:off x="10334851" y="4142837"/>
            <a:ext cx="609790" cy="362283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3" name="Arrow: Striped Right 92">
            <a:extLst>
              <a:ext uri="{FF2B5EF4-FFF2-40B4-BE49-F238E27FC236}">
                <a16:creationId xmlns:a16="http://schemas.microsoft.com/office/drawing/2014/main" id="{09326CA4-8C17-AB76-2190-CF6AB7A47F75}"/>
              </a:ext>
            </a:extLst>
          </p:cNvPr>
          <p:cNvSpPr/>
          <p:nvPr/>
        </p:nvSpPr>
        <p:spPr>
          <a:xfrm>
            <a:off x="10334851" y="4693073"/>
            <a:ext cx="609790" cy="362283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5" name="Arrow: Striped Right 94">
            <a:extLst>
              <a:ext uri="{FF2B5EF4-FFF2-40B4-BE49-F238E27FC236}">
                <a16:creationId xmlns:a16="http://schemas.microsoft.com/office/drawing/2014/main" id="{C6F35C84-EFFB-F475-164E-B0D8D0E1FB0A}"/>
              </a:ext>
            </a:extLst>
          </p:cNvPr>
          <p:cNvSpPr/>
          <p:nvPr/>
        </p:nvSpPr>
        <p:spPr>
          <a:xfrm>
            <a:off x="10315820" y="5719674"/>
            <a:ext cx="609790" cy="362283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7" name="Arrow: Striped Right 96">
            <a:extLst>
              <a:ext uri="{FF2B5EF4-FFF2-40B4-BE49-F238E27FC236}">
                <a16:creationId xmlns:a16="http://schemas.microsoft.com/office/drawing/2014/main" id="{68907B4E-3606-AFD5-ABCB-63B3F2E97DF7}"/>
              </a:ext>
            </a:extLst>
          </p:cNvPr>
          <p:cNvSpPr/>
          <p:nvPr/>
        </p:nvSpPr>
        <p:spPr>
          <a:xfrm>
            <a:off x="10295418" y="5243309"/>
            <a:ext cx="609790" cy="362283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9" name="Arrow: Striped Right 98">
            <a:extLst>
              <a:ext uri="{FF2B5EF4-FFF2-40B4-BE49-F238E27FC236}">
                <a16:creationId xmlns:a16="http://schemas.microsoft.com/office/drawing/2014/main" id="{C6048477-82FB-DBEE-335E-2424245EF03A}"/>
              </a:ext>
            </a:extLst>
          </p:cNvPr>
          <p:cNvSpPr/>
          <p:nvPr/>
        </p:nvSpPr>
        <p:spPr>
          <a:xfrm>
            <a:off x="10318868" y="6222430"/>
            <a:ext cx="609790" cy="362283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Arrow: Striped Right 100">
            <a:extLst>
              <a:ext uri="{FF2B5EF4-FFF2-40B4-BE49-F238E27FC236}">
                <a16:creationId xmlns:a16="http://schemas.microsoft.com/office/drawing/2014/main" id="{828018E3-C117-2EC7-6A87-BE1E52354676}"/>
              </a:ext>
            </a:extLst>
          </p:cNvPr>
          <p:cNvSpPr/>
          <p:nvPr/>
        </p:nvSpPr>
        <p:spPr>
          <a:xfrm>
            <a:off x="10315820" y="6721644"/>
            <a:ext cx="609790" cy="362283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" name="Arrow: Striped Right 102">
            <a:extLst>
              <a:ext uri="{FF2B5EF4-FFF2-40B4-BE49-F238E27FC236}">
                <a16:creationId xmlns:a16="http://schemas.microsoft.com/office/drawing/2014/main" id="{5B070A9F-BC41-E4C8-F95C-AA5CA0D7F34B}"/>
              </a:ext>
            </a:extLst>
          </p:cNvPr>
          <p:cNvSpPr/>
          <p:nvPr/>
        </p:nvSpPr>
        <p:spPr>
          <a:xfrm>
            <a:off x="10273320" y="7227942"/>
            <a:ext cx="609790" cy="362283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" name="Half Frame 103">
            <a:extLst>
              <a:ext uri="{FF2B5EF4-FFF2-40B4-BE49-F238E27FC236}">
                <a16:creationId xmlns:a16="http://schemas.microsoft.com/office/drawing/2014/main" id="{A5D911BD-0880-A1C5-489B-6662563401E5}"/>
              </a:ext>
            </a:extLst>
          </p:cNvPr>
          <p:cNvSpPr/>
          <p:nvPr/>
        </p:nvSpPr>
        <p:spPr>
          <a:xfrm>
            <a:off x="2194164" y="1705390"/>
            <a:ext cx="434042" cy="5884835"/>
          </a:xfrm>
          <a:prstGeom prst="halfFram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6" name="Half Frame 105">
            <a:extLst>
              <a:ext uri="{FF2B5EF4-FFF2-40B4-BE49-F238E27FC236}">
                <a16:creationId xmlns:a16="http://schemas.microsoft.com/office/drawing/2014/main" id="{E04E4C27-D954-B010-A5DD-280357E0A69A}"/>
              </a:ext>
            </a:extLst>
          </p:cNvPr>
          <p:cNvSpPr/>
          <p:nvPr/>
        </p:nvSpPr>
        <p:spPr>
          <a:xfrm>
            <a:off x="10346588" y="1643761"/>
            <a:ext cx="609790" cy="6012593"/>
          </a:xfrm>
          <a:prstGeom prst="halfFram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4798842" y="634055"/>
            <a:ext cx="3489158" cy="6876220"/>
          </a:xfrm>
          <a:custGeom>
            <a:avLst/>
            <a:gdLst/>
            <a:ahLst/>
            <a:cxnLst/>
            <a:rect l="l" t="t" r="r" b="b"/>
            <a:pathLst>
              <a:path w="3489158" h="6876220">
                <a:moveTo>
                  <a:pt x="0" y="0"/>
                </a:moveTo>
                <a:lnTo>
                  <a:pt x="3489158" y="0"/>
                </a:lnTo>
                <a:lnTo>
                  <a:pt x="3489158" y="6876220"/>
                </a:lnTo>
                <a:lnTo>
                  <a:pt x="0" y="687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6529866" y="634055"/>
            <a:ext cx="8498670" cy="6657580"/>
          </a:xfrm>
          <a:custGeom>
            <a:avLst/>
            <a:gdLst/>
            <a:ahLst/>
            <a:cxnLst/>
            <a:rect l="l" t="t" r="r" b="b"/>
            <a:pathLst>
              <a:path w="8498670" h="6657580">
                <a:moveTo>
                  <a:pt x="0" y="0"/>
                </a:moveTo>
                <a:lnTo>
                  <a:pt x="8498670" y="0"/>
                </a:lnTo>
                <a:lnTo>
                  <a:pt x="8498670" y="6657580"/>
                </a:lnTo>
                <a:lnTo>
                  <a:pt x="0" y="6657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1528440" y="3421712"/>
            <a:ext cx="6332986" cy="6865288"/>
          </a:xfrm>
          <a:custGeom>
            <a:avLst/>
            <a:gdLst/>
            <a:ahLst/>
            <a:cxnLst/>
            <a:rect l="l" t="t" r="r" b="b"/>
            <a:pathLst>
              <a:path w="6332986" h="6865288">
                <a:moveTo>
                  <a:pt x="0" y="0"/>
                </a:moveTo>
                <a:lnTo>
                  <a:pt x="6332986" y="0"/>
                </a:lnTo>
                <a:lnTo>
                  <a:pt x="6332986" y="6865288"/>
                </a:lnTo>
                <a:lnTo>
                  <a:pt x="0" y="68652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548640" y="729750"/>
            <a:ext cx="4992624" cy="1383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93"/>
              </a:lnSpc>
            </a:pPr>
            <a:r>
              <a:rPr lang="en-US" sz="5361" b="1" spc="-13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MULTI-SOURCE INGESTION &amp;</a:t>
            </a:r>
          </a:p>
        </p:txBody>
      </p:sp>
      <p:sp>
        <p:nvSpPr>
          <p:cNvPr id="7" name="Freeform 7"/>
          <p:cNvSpPr/>
          <p:nvPr/>
        </p:nvSpPr>
        <p:spPr>
          <a:xfrm>
            <a:off x="426574" y="2995365"/>
            <a:ext cx="5895474" cy="229572"/>
          </a:xfrm>
          <a:custGeom>
            <a:avLst/>
            <a:gdLst/>
            <a:ahLst/>
            <a:cxnLst/>
            <a:rect l="l" t="t" r="r" b="b"/>
            <a:pathLst>
              <a:path w="5895474" h="229572">
                <a:moveTo>
                  <a:pt x="0" y="0"/>
                </a:moveTo>
                <a:lnTo>
                  <a:pt x="5895474" y="0"/>
                </a:lnTo>
                <a:lnTo>
                  <a:pt x="589547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548640" y="3665244"/>
            <a:ext cx="4553712" cy="756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9"/>
              </a:lnSpc>
            </a:pPr>
            <a:r>
              <a:rPr lang="en-US" sz="2529" b="1" spc="-6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One pipeline. Many sources. Clearer, cleaner intelligence.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640" y="4936680"/>
            <a:ext cx="4608576" cy="1105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2276" spc="-56">
                <a:solidFill>
                  <a:srgbClr val="D12C2C"/>
                </a:solidFill>
                <a:latin typeface="Poppins"/>
                <a:ea typeface="Poppins"/>
                <a:cs typeface="Poppins"/>
                <a:sym typeface="Poppins"/>
              </a:rPr>
              <a:t>Ingest </a:t>
            </a:r>
            <a:r>
              <a:rPr lang="en-US" sz="2276" spc="-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alerts simultaneously from SIEM, Cyber Sensors, Satellites, and Intelligence Reports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8640" y="6413220"/>
            <a:ext cx="4608576" cy="745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2276" spc="-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Automatically </a:t>
            </a:r>
            <a:r>
              <a:rPr lang="en-US" sz="2276" spc="-56">
                <a:solidFill>
                  <a:srgbClr val="D12C2C"/>
                </a:solidFill>
                <a:latin typeface="Poppins"/>
                <a:ea typeface="Poppins"/>
                <a:cs typeface="Poppins"/>
                <a:sym typeface="Poppins"/>
              </a:rPr>
              <a:t>normalises </a:t>
            </a:r>
            <a:r>
              <a:rPr lang="en-US" sz="2276" spc="-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diverse formats into a unified structure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8640" y="7502577"/>
            <a:ext cx="4187952" cy="756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0"/>
              </a:lnSpc>
            </a:pPr>
            <a:r>
              <a:rPr lang="en-US" sz="2384" spc="-59">
                <a:solidFill>
                  <a:srgbClr val="D12C2C"/>
                </a:solidFill>
                <a:latin typeface="Poppins"/>
                <a:ea typeface="Poppins"/>
                <a:cs typeface="Poppins"/>
                <a:sym typeface="Poppins"/>
              </a:rPr>
              <a:t>Duplicates </a:t>
            </a:r>
            <a:r>
              <a:rPr lang="en-US" sz="2384" spc="-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alerts to remove redundancies and noise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8640" y="8624334"/>
            <a:ext cx="4389120" cy="735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3"/>
              </a:lnSpc>
            </a:pPr>
            <a:r>
              <a:rPr lang="en-US" sz="2330" spc="-58">
                <a:solidFill>
                  <a:srgbClr val="D12C2C"/>
                </a:solidFill>
                <a:latin typeface="Poppins"/>
                <a:ea typeface="Poppins"/>
                <a:cs typeface="Poppins"/>
                <a:sym typeface="Poppins"/>
              </a:rPr>
              <a:t>Reduces </a:t>
            </a:r>
            <a:r>
              <a:rPr lang="en-US" sz="2330" spc="-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manual format checks and duplicate handling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8640" y="2124884"/>
            <a:ext cx="5650992" cy="753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14"/>
              </a:lnSpc>
            </a:pPr>
            <a:r>
              <a:rPr lang="en-US" sz="5489" b="1" spc="-137">
                <a:solidFill>
                  <a:srgbClr val="D12C2C"/>
                </a:solidFill>
                <a:latin typeface="Poppins Bold"/>
                <a:ea typeface="Poppins Bold"/>
                <a:cs typeface="Poppins Bold"/>
                <a:sym typeface="Poppins Bold"/>
              </a:rPr>
              <a:t>NORMALISATION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8050220" y="426348"/>
            <a:ext cx="10237780" cy="6220301"/>
          </a:xfrm>
          <a:custGeom>
            <a:avLst/>
            <a:gdLst/>
            <a:ahLst/>
            <a:cxnLst/>
            <a:rect l="l" t="t" r="r" b="b"/>
            <a:pathLst>
              <a:path w="10237780" h="6220301">
                <a:moveTo>
                  <a:pt x="0" y="0"/>
                </a:moveTo>
                <a:lnTo>
                  <a:pt x="10237780" y="0"/>
                </a:lnTo>
                <a:lnTo>
                  <a:pt x="10237780" y="6220300"/>
                </a:lnTo>
                <a:lnTo>
                  <a:pt x="0" y="6220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7831464" y="5356674"/>
            <a:ext cx="7634584" cy="4930326"/>
          </a:xfrm>
          <a:custGeom>
            <a:avLst/>
            <a:gdLst/>
            <a:ahLst/>
            <a:cxnLst/>
            <a:rect l="l" t="t" r="r" b="b"/>
            <a:pathLst>
              <a:path w="7634584" h="4930326">
                <a:moveTo>
                  <a:pt x="0" y="0"/>
                </a:moveTo>
                <a:lnTo>
                  <a:pt x="7634584" y="0"/>
                </a:lnTo>
                <a:lnTo>
                  <a:pt x="7634584" y="4930326"/>
                </a:lnTo>
                <a:lnTo>
                  <a:pt x="0" y="49303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420624" y="1084652"/>
            <a:ext cx="7424928" cy="1223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0"/>
              </a:lnSpc>
            </a:pPr>
            <a:r>
              <a:rPr lang="en-US" sz="4419" b="1" spc="-8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CORRELATION,</a:t>
            </a:r>
          </a:p>
          <a:p>
            <a:pPr algn="l">
              <a:lnSpc>
                <a:spcPts val="4640"/>
              </a:lnSpc>
            </a:pPr>
            <a:r>
              <a:rPr lang="en-US" sz="4419" b="1" spc="-8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FALSE POSITIVE FILTERING &amp;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20624" y="2559549"/>
            <a:ext cx="4846320" cy="721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4952" b="1" spc="-99" dirty="0">
                <a:solidFill>
                  <a:srgbClr val="D12626"/>
                </a:solidFill>
                <a:latin typeface="Poppins Bold"/>
                <a:ea typeface="Poppins Bold"/>
                <a:cs typeface="Poppins Bold"/>
                <a:sym typeface="Poppins Bold"/>
              </a:rPr>
              <a:t>PRIORITISATION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207818" y="3421712"/>
            <a:ext cx="7634584" cy="437279"/>
          </a:xfrm>
          <a:custGeom>
            <a:avLst/>
            <a:gdLst/>
            <a:ahLst/>
            <a:cxnLst/>
            <a:rect l="l" t="t" r="r" b="b"/>
            <a:pathLst>
              <a:path w="7634584" h="437279">
                <a:moveTo>
                  <a:pt x="0" y="0"/>
                </a:moveTo>
                <a:lnTo>
                  <a:pt x="7634584" y="0"/>
                </a:lnTo>
                <a:lnTo>
                  <a:pt x="763458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420624" y="4095395"/>
            <a:ext cx="5340096" cy="379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spc="-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Reduce noise, surface what matters.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0624" y="4792620"/>
            <a:ext cx="5705856" cy="806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6" spc="-5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Infinity filters out false positives with </a:t>
            </a:r>
            <a:r>
              <a:rPr lang="en-US" sz="2626" b="1" spc="-52">
                <a:solidFill>
                  <a:srgbClr val="D12626"/>
                </a:solidFill>
                <a:latin typeface="Poppins Bold"/>
                <a:ea typeface="Poppins Bold"/>
                <a:cs typeface="Poppins Bold"/>
                <a:sym typeface="Poppins Bold"/>
              </a:rPr>
              <a:t>46.5%</a:t>
            </a:r>
            <a:r>
              <a:rPr lang="en-US" sz="2626" spc="-5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false positive rate reduction.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0624" y="5966745"/>
            <a:ext cx="6547104" cy="793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529" spc="-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Correlates related alerts into consolidated incidents for efficient investigation.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0624" y="7107312"/>
            <a:ext cx="6803136" cy="837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723" spc="-5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Scores incidents by severity and confidence to prioritise analyst focus.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20624" y="8280030"/>
            <a:ext cx="4681728" cy="837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723" spc="-5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Save time. Cut through noise. Focus on real threats.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226842" y="426348"/>
            <a:ext cx="8061158" cy="7083928"/>
          </a:xfrm>
          <a:custGeom>
            <a:avLst/>
            <a:gdLst/>
            <a:ahLst/>
            <a:cxnLst/>
            <a:rect l="l" t="t" r="r" b="b"/>
            <a:pathLst>
              <a:path w="8061158" h="7083928">
                <a:moveTo>
                  <a:pt x="0" y="0"/>
                </a:moveTo>
                <a:lnTo>
                  <a:pt x="8061158" y="0"/>
                </a:lnTo>
                <a:lnTo>
                  <a:pt x="8061158" y="7083927"/>
                </a:lnTo>
                <a:lnTo>
                  <a:pt x="0" y="70839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8706488" y="2776725"/>
            <a:ext cx="7404890" cy="7510275"/>
          </a:xfrm>
          <a:custGeom>
            <a:avLst/>
            <a:gdLst/>
            <a:ahLst/>
            <a:cxnLst/>
            <a:rect l="l" t="t" r="r" b="b"/>
            <a:pathLst>
              <a:path w="7404890" h="7510275">
                <a:moveTo>
                  <a:pt x="0" y="0"/>
                </a:moveTo>
                <a:lnTo>
                  <a:pt x="7404890" y="0"/>
                </a:lnTo>
                <a:lnTo>
                  <a:pt x="7404890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676656" y="647653"/>
            <a:ext cx="6839712" cy="1013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69"/>
              </a:lnSpc>
            </a:pPr>
            <a:r>
              <a:rPr lang="en-US" sz="7169" b="1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MITRE ATT&amp;CK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" y="2495562"/>
            <a:ext cx="7534656" cy="972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7"/>
              </a:lnSpc>
            </a:pPr>
            <a:r>
              <a:rPr lang="en-US" sz="3627" b="1">
                <a:solidFill>
                  <a:srgbClr val="D11E2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Mapping and Evidence-backed Reasoning</a:t>
            </a:r>
          </a:p>
        </p:txBody>
      </p:sp>
      <p:sp>
        <p:nvSpPr>
          <p:cNvPr id="7" name="Freeform 7"/>
          <p:cNvSpPr/>
          <p:nvPr/>
        </p:nvSpPr>
        <p:spPr>
          <a:xfrm>
            <a:off x="645330" y="4493047"/>
            <a:ext cx="7415828" cy="229572"/>
          </a:xfrm>
          <a:custGeom>
            <a:avLst/>
            <a:gdLst/>
            <a:ahLst/>
            <a:cxnLst/>
            <a:rect l="l" t="t" r="r" b="b"/>
            <a:pathLst>
              <a:path w="7415828" h="229572">
                <a:moveTo>
                  <a:pt x="0" y="0"/>
                </a:moveTo>
                <a:lnTo>
                  <a:pt x="7415828" y="0"/>
                </a:lnTo>
                <a:lnTo>
                  <a:pt x="741582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731520" y="5125146"/>
            <a:ext cx="8229600" cy="728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3"/>
              </a:lnSpc>
            </a:pPr>
            <a:r>
              <a:rPr lang="en-US" sz="2336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Maps incidents to MITRE ATT&amp;CK</a:t>
            </a:r>
          </a:p>
          <a:p>
            <a:pPr algn="l">
              <a:lnSpc>
                <a:spcPts val="2803"/>
              </a:lnSpc>
            </a:pPr>
            <a:r>
              <a:rPr lang="en-US" sz="2336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tactics, techniques, and sub-techniques automatically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1520" y="6328080"/>
            <a:ext cx="6089904" cy="750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9"/>
              </a:lnSpc>
            </a:pPr>
            <a:r>
              <a:rPr lang="en-US" sz="2433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Provides structured attacker behaviour</a:t>
            </a:r>
          </a:p>
          <a:p>
            <a:pPr algn="l">
              <a:lnSpc>
                <a:spcPts val="2919"/>
              </a:lnSpc>
            </a:pPr>
            <a:r>
              <a:rPr lang="en-US" sz="2433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context for analysts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1520" y="7541184"/>
            <a:ext cx="7461504" cy="740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IBM Bob AI applies evidence-backed reasoning</a:t>
            </a:r>
          </a:p>
          <a:p>
            <a:pPr algn="l"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 refine incident understanding and confidence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1520" y="8755050"/>
            <a:ext cx="5230368" cy="740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Accelerates investigations with</a:t>
            </a:r>
          </a:p>
          <a:p>
            <a:pPr algn="l"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greater </a:t>
            </a:r>
            <a:r>
              <a:rPr lang="en-US" sz="2400" b="1">
                <a:solidFill>
                  <a:srgbClr val="D11E2B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accuracy and confidence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8268976" y="852695"/>
            <a:ext cx="10019024" cy="9434305"/>
          </a:xfrm>
          <a:custGeom>
            <a:avLst/>
            <a:gdLst/>
            <a:ahLst/>
            <a:cxnLst/>
            <a:rect l="l" t="t" r="r" b="b"/>
            <a:pathLst>
              <a:path w="10019024" h="9434305">
                <a:moveTo>
                  <a:pt x="0" y="0"/>
                </a:moveTo>
                <a:lnTo>
                  <a:pt x="10019024" y="0"/>
                </a:lnTo>
                <a:lnTo>
                  <a:pt x="10019024" y="9434305"/>
                </a:lnTo>
                <a:lnTo>
                  <a:pt x="0" y="94343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4134488" y="3214004"/>
            <a:ext cx="7197072" cy="7072996"/>
          </a:xfrm>
          <a:custGeom>
            <a:avLst/>
            <a:gdLst/>
            <a:ahLst/>
            <a:cxnLst/>
            <a:rect l="l" t="t" r="r" b="b"/>
            <a:pathLst>
              <a:path w="7197072" h="7072996">
                <a:moveTo>
                  <a:pt x="0" y="0"/>
                </a:moveTo>
                <a:lnTo>
                  <a:pt x="7197072" y="0"/>
                </a:lnTo>
                <a:lnTo>
                  <a:pt x="7197072" y="7072996"/>
                </a:lnTo>
                <a:lnTo>
                  <a:pt x="0" y="70729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402336" y="3227819"/>
            <a:ext cx="6583680" cy="90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6"/>
              </a:lnSpc>
            </a:pPr>
            <a:r>
              <a:rPr lang="en-US" sz="6996" b="1">
                <a:solidFill>
                  <a:srgbClr val="D12C2C"/>
                </a:solidFill>
                <a:latin typeface="Poppins Heavy"/>
                <a:ea typeface="Poppins Heavy"/>
                <a:cs typeface="Poppins Heavy"/>
                <a:sym typeface="Poppins Heavy"/>
              </a:rPr>
              <a:t>BLUF OUTPUTS</a:t>
            </a:r>
          </a:p>
        </p:txBody>
      </p:sp>
      <p:sp>
        <p:nvSpPr>
          <p:cNvPr id="6" name="Freeform 6"/>
          <p:cNvSpPr/>
          <p:nvPr/>
        </p:nvSpPr>
        <p:spPr>
          <a:xfrm>
            <a:off x="207818" y="4285339"/>
            <a:ext cx="6759560" cy="218640"/>
          </a:xfrm>
          <a:custGeom>
            <a:avLst/>
            <a:gdLst/>
            <a:ahLst/>
            <a:cxnLst/>
            <a:rect l="l" t="t" r="r" b="b"/>
            <a:pathLst>
              <a:path w="6759560" h="218640">
                <a:moveTo>
                  <a:pt x="0" y="0"/>
                </a:moveTo>
                <a:lnTo>
                  <a:pt x="6759560" y="0"/>
                </a:lnTo>
                <a:lnTo>
                  <a:pt x="675956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457200" y="4834502"/>
            <a:ext cx="3621024" cy="807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High-priority incidents in one decisive 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" y="5914637"/>
            <a:ext cx="4498848" cy="807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What happened, why it matters and affected assets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7200" y="6984919"/>
            <a:ext cx="3291840" cy="797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2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Confidence scores and recommended actions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7200" y="8064612"/>
            <a:ext cx="3986784" cy="7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6"/>
              </a:lnSpc>
            </a:pPr>
            <a:r>
              <a:rPr lang="en-US" sz="219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Structured intelligence, delivered for rapid decisions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2336" y="1391333"/>
            <a:ext cx="6144768" cy="1659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95"/>
              </a:lnSpc>
            </a:pPr>
            <a:r>
              <a:rPr lang="en-US" sz="6926" b="1">
                <a:solidFill>
                  <a:srgbClr val="FFFFFF"/>
                </a:solidFill>
                <a:latin typeface="Poppins Heavy"/>
                <a:ea typeface="Poppins Heavy"/>
                <a:cs typeface="Poppins Heavy"/>
                <a:sym typeface="Poppins Heavy"/>
              </a:rPr>
              <a:t>COMMANDER VIEW &amp;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676656" y="585242"/>
            <a:ext cx="5705856" cy="1712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8"/>
              </a:lnSpc>
            </a:pPr>
            <a:r>
              <a:rPr lang="en-US" sz="6671" b="1">
                <a:solidFill>
                  <a:srgbClr val="EBEBEB"/>
                </a:solidFill>
                <a:latin typeface="Poppins Heavy"/>
                <a:ea typeface="Poppins Heavy"/>
                <a:cs typeface="Poppins Heavy"/>
                <a:sym typeface="Poppins Heavy"/>
              </a:rPr>
              <a:t>END-TO-END IMPACT &amp;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6656" y="2283289"/>
            <a:ext cx="6400800" cy="1000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09"/>
              </a:lnSpc>
            </a:pPr>
            <a:r>
              <a:rPr lang="en-US" sz="7273" b="1">
                <a:solidFill>
                  <a:srgbClr val="C62828"/>
                </a:solidFill>
                <a:latin typeface="Poppins Heavy"/>
                <a:ea typeface="Poppins Heavy"/>
                <a:cs typeface="Poppins Heavy"/>
                <a:sym typeface="Poppins Heavy"/>
              </a:rPr>
              <a:t>KEY BENEFITS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3421712"/>
            <a:ext cx="8072096" cy="229572"/>
          </a:xfrm>
          <a:custGeom>
            <a:avLst/>
            <a:gdLst/>
            <a:ahLst/>
            <a:cxnLst/>
            <a:rect l="l" t="t" r="r" b="b"/>
            <a:pathLst>
              <a:path w="8072096" h="229572">
                <a:moveTo>
                  <a:pt x="0" y="0"/>
                </a:moveTo>
                <a:lnTo>
                  <a:pt x="8072096" y="0"/>
                </a:lnTo>
                <a:lnTo>
                  <a:pt x="807209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645330" y="3640352"/>
            <a:ext cx="885962" cy="1289974"/>
          </a:xfrm>
          <a:custGeom>
            <a:avLst/>
            <a:gdLst/>
            <a:ahLst/>
            <a:cxnLst/>
            <a:rect l="l" t="t" r="r" b="b"/>
            <a:pathLst>
              <a:path w="885962" h="1289974">
                <a:moveTo>
                  <a:pt x="0" y="0"/>
                </a:moveTo>
                <a:lnTo>
                  <a:pt x="885962" y="0"/>
                </a:lnTo>
                <a:lnTo>
                  <a:pt x="88596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301598" y="3640352"/>
            <a:ext cx="7415828" cy="1289974"/>
          </a:xfrm>
          <a:custGeom>
            <a:avLst/>
            <a:gdLst/>
            <a:ahLst/>
            <a:cxnLst/>
            <a:rect l="l" t="t" r="r" b="b"/>
            <a:pathLst>
              <a:path w="7415828" h="1289974">
                <a:moveTo>
                  <a:pt x="0" y="0"/>
                </a:moveTo>
                <a:lnTo>
                  <a:pt x="7415828" y="0"/>
                </a:lnTo>
                <a:lnTo>
                  <a:pt x="741582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956816" y="3902166"/>
            <a:ext cx="5596128" cy="653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7"/>
              </a:lnSpc>
            </a:pPr>
            <a:r>
              <a:rPr lang="en-US" sz="2139">
                <a:solidFill>
                  <a:srgbClr val="EBEBEB"/>
                </a:solidFill>
                <a:latin typeface="Poppins"/>
                <a:ea typeface="Poppins"/>
                <a:cs typeface="Poppins"/>
                <a:sym typeface="Poppins"/>
              </a:rPr>
              <a:t>Compresses many manual steps into one intelligent, evidence-driven workflow</a:t>
            </a:r>
          </a:p>
        </p:txBody>
      </p:sp>
      <p:sp>
        <p:nvSpPr>
          <p:cNvPr id="9" name="Freeform 9"/>
          <p:cNvSpPr/>
          <p:nvPr/>
        </p:nvSpPr>
        <p:spPr>
          <a:xfrm>
            <a:off x="645330" y="4711687"/>
            <a:ext cx="885962" cy="1289974"/>
          </a:xfrm>
          <a:custGeom>
            <a:avLst/>
            <a:gdLst/>
            <a:ahLst/>
            <a:cxnLst/>
            <a:rect l="l" t="t" r="r" b="b"/>
            <a:pathLst>
              <a:path w="885962" h="1289974">
                <a:moveTo>
                  <a:pt x="0" y="0"/>
                </a:moveTo>
                <a:lnTo>
                  <a:pt x="885962" y="0"/>
                </a:lnTo>
                <a:lnTo>
                  <a:pt x="88596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301598" y="4711687"/>
            <a:ext cx="7415828" cy="1289974"/>
          </a:xfrm>
          <a:custGeom>
            <a:avLst/>
            <a:gdLst/>
            <a:ahLst/>
            <a:cxnLst/>
            <a:rect l="l" t="t" r="r" b="b"/>
            <a:pathLst>
              <a:path w="7415828" h="1289974">
                <a:moveTo>
                  <a:pt x="0" y="0"/>
                </a:moveTo>
                <a:lnTo>
                  <a:pt x="7415828" y="0"/>
                </a:lnTo>
                <a:lnTo>
                  <a:pt x="741582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956816" y="5075001"/>
            <a:ext cx="6181344" cy="684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3"/>
              </a:lnSpc>
            </a:pPr>
            <a:r>
              <a:rPr lang="en-US" sz="2169">
                <a:solidFill>
                  <a:srgbClr val="EBEBEB"/>
                </a:solidFill>
                <a:latin typeface="Poppins"/>
                <a:ea typeface="Poppins"/>
                <a:cs typeface="Poppins"/>
                <a:sym typeface="Poppins"/>
              </a:rPr>
              <a:t>Analysts spend less time on alert processing and more on investigating genuine threats</a:t>
            </a:r>
          </a:p>
        </p:txBody>
      </p:sp>
      <p:sp>
        <p:nvSpPr>
          <p:cNvPr id="12" name="Freeform 12"/>
          <p:cNvSpPr/>
          <p:nvPr/>
        </p:nvSpPr>
        <p:spPr>
          <a:xfrm>
            <a:off x="645330" y="5990729"/>
            <a:ext cx="885962" cy="1300906"/>
          </a:xfrm>
          <a:custGeom>
            <a:avLst/>
            <a:gdLst/>
            <a:ahLst/>
            <a:cxnLst/>
            <a:rect l="l" t="t" r="r" b="b"/>
            <a:pathLst>
              <a:path w="885962" h="1300906">
                <a:moveTo>
                  <a:pt x="0" y="0"/>
                </a:moveTo>
                <a:lnTo>
                  <a:pt x="885962" y="0"/>
                </a:lnTo>
                <a:lnTo>
                  <a:pt x="88596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1301598" y="5990729"/>
            <a:ext cx="7415828" cy="1300906"/>
          </a:xfrm>
          <a:custGeom>
            <a:avLst/>
            <a:gdLst/>
            <a:ahLst/>
            <a:cxnLst/>
            <a:rect l="l" t="t" r="r" b="b"/>
            <a:pathLst>
              <a:path w="7415828" h="1300906">
                <a:moveTo>
                  <a:pt x="0" y="0"/>
                </a:moveTo>
                <a:lnTo>
                  <a:pt x="7415828" y="0"/>
                </a:lnTo>
                <a:lnTo>
                  <a:pt x="741582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1956816" y="6268293"/>
            <a:ext cx="5321808" cy="684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3"/>
              </a:lnSpc>
            </a:pPr>
            <a:r>
              <a:rPr lang="en-US" sz="2169">
                <a:solidFill>
                  <a:srgbClr val="EBEBEB"/>
                </a:solidFill>
                <a:latin typeface="Poppins"/>
                <a:ea typeface="Poppins"/>
                <a:cs typeface="Poppins"/>
                <a:sym typeface="Poppins"/>
              </a:rPr>
              <a:t>Commanders receive clear, prioritised </a:t>
            </a:r>
            <a:r>
              <a:rPr lang="en-US" sz="2169">
                <a:solidFill>
                  <a:srgbClr val="C62828"/>
                </a:solidFill>
                <a:latin typeface="Poppins"/>
                <a:ea typeface="Poppins"/>
                <a:cs typeface="Poppins"/>
                <a:sym typeface="Poppins"/>
              </a:rPr>
              <a:t>BLUF</a:t>
            </a:r>
            <a:r>
              <a:rPr lang="en-US" sz="2169">
                <a:solidFill>
                  <a:srgbClr val="EBEBEB"/>
                </a:solidFill>
                <a:latin typeface="Poppins"/>
                <a:ea typeface="Poppins"/>
                <a:cs typeface="Poppins"/>
                <a:sym typeface="Poppins"/>
              </a:rPr>
              <a:t> summaries within minutes</a:t>
            </a:r>
          </a:p>
        </p:txBody>
      </p:sp>
      <p:sp>
        <p:nvSpPr>
          <p:cNvPr id="15" name="Freeform 15"/>
          <p:cNvSpPr/>
          <p:nvPr/>
        </p:nvSpPr>
        <p:spPr>
          <a:xfrm>
            <a:off x="645330" y="7062064"/>
            <a:ext cx="885962" cy="1519546"/>
          </a:xfrm>
          <a:custGeom>
            <a:avLst/>
            <a:gdLst/>
            <a:ahLst/>
            <a:cxnLst/>
            <a:rect l="l" t="t" r="r" b="b"/>
            <a:pathLst>
              <a:path w="885962" h="1519546">
                <a:moveTo>
                  <a:pt x="0" y="0"/>
                </a:moveTo>
                <a:lnTo>
                  <a:pt x="885962" y="0"/>
                </a:lnTo>
                <a:lnTo>
                  <a:pt x="885962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1301598" y="7062064"/>
            <a:ext cx="7415828" cy="1519546"/>
          </a:xfrm>
          <a:custGeom>
            <a:avLst/>
            <a:gdLst/>
            <a:ahLst/>
            <a:cxnLst/>
            <a:rect l="l" t="t" r="r" b="b"/>
            <a:pathLst>
              <a:path w="7415828" h="1519546">
                <a:moveTo>
                  <a:pt x="0" y="0"/>
                </a:moveTo>
                <a:lnTo>
                  <a:pt x="7415828" y="0"/>
                </a:lnTo>
                <a:lnTo>
                  <a:pt x="7415828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1956816" y="7417212"/>
            <a:ext cx="5961888" cy="793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2554">
                <a:solidFill>
                  <a:srgbClr val="EBEBEB"/>
                </a:solidFill>
                <a:latin typeface="Poppins"/>
                <a:ea typeface="Poppins"/>
                <a:cs typeface="Poppins"/>
                <a:sym typeface="Poppins"/>
              </a:rPr>
              <a:t>Improved threat detection reduces the risk of missed genuine threats</a:t>
            </a:r>
          </a:p>
        </p:txBody>
      </p:sp>
      <p:sp>
        <p:nvSpPr>
          <p:cNvPr id="18" name="Freeform 18"/>
          <p:cNvSpPr/>
          <p:nvPr/>
        </p:nvSpPr>
        <p:spPr>
          <a:xfrm>
            <a:off x="645330" y="8352038"/>
            <a:ext cx="885962" cy="1300906"/>
          </a:xfrm>
          <a:custGeom>
            <a:avLst/>
            <a:gdLst/>
            <a:ahLst/>
            <a:cxnLst/>
            <a:rect l="l" t="t" r="r" b="b"/>
            <a:pathLst>
              <a:path w="885962" h="1300906">
                <a:moveTo>
                  <a:pt x="0" y="0"/>
                </a:moveTo>
                <a:lnTo>
                  <a:pt x="885962" y="0"/>
                </a:lnTo>
                <a:lnTo>
                  <a:pt x="885962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>
            <a:off x="1301598" y="8352038"/>
            <a:ext cx="7415828" cy="1300906"/>
          </a:xfrm>
          <a:custGeom>
            <a:avLst/>
            <a:gdLst/>
            <a:ahLst/>
            <a:cxnLst/>
            <a:rect l="l" t="t" r="r" b="b"/>
            <a:pathLst>
              <a:path w="7415828" h="1300906">
                <a:moveTo>
                  <a:pt x="0" y="0"/>
                </a:moveTo>
                <a:lnTo>
                  <a:pt x="7415828" y="0"/>
                </a:lnTo>
                <a:lnTo>
                  <a:pt x="7415828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TextBox 20"/>
          <p:cNvSpPr txBox="1"/>
          <p:nvPr/>
        </p:nvSpPr>
        <p:spPr>
          <a:xfrm>
            <a:off x="1956816" y="8643300"/>
            <a:ext cx="5084064" cy="728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lang="en-US" sz="2346">
                <a:solidFill>
                  <a:srgbClr val="EBEBEB"/>
                </a:solidFill>
                <a:latin typeface="Poppins"/>
                <a:ea typeface="Poppins"/>
                <a:cs typeface="Poppins"/>
                <a:sym typeface="Poppins"/>
              </a:rPr>
              <a:t>Increases operational efficiency and optimises resource allocation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753344" y="4064145"/>
            <a:ext cx="6400800" cy="2715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04"/>
              </a:lnSpc>
            </a:pPr>
            <a:r>
              <a:rPr lang="en-US" sz="4613" b="1">
                <a:solidFill>
                  <a:srgbClr val="C62828"/>
                </a:solidFill>
                <a:latin typeface="Poppins Bold"/>
                <a:ea typeface="Poppins Bold"/>
                <a:cs typeface="Poppins Bold"/>
                <a:sym typeface="Poppins Bold"/>
              </a:rPr>
              <a:t>Infinity</a:t>
            </a:r>
            <a:r>
              <a:rPr lang="en-US" sz="4613" b="1">
                <a:solidFill>
                  <a:srgbClr val="EBEBEB"/>
                </a:solidFill>
                <a:latin typeface="Poppins Bold"/>
                <a:ea typeface="Poppins Bold"/>
                <a:cs typeface="Poppins Bold"/>
                <a:sym typeface="Poppins Bold"/>
              </a:rPr>
              <a:t> transforms threat intelligence from </a:t>
            </a:r>
            <a:r>
              <a:rPr lang="en-US" sz="4613" b="1">
                <a:solidFill>
                  <a:srgbClr val="C62828"/>
                </a:solidFill>
                <a:latin typeface="Poppins Bold"/>
                <a:ea typeface="Poppins Bold"/>
                <a:cs typeface="Poppins Bold"/>
                <a:sym typeface="Poppins Bold"/>
              </a:rPr>
              <a:t>data overload</a:t>
            </a:r>
            <a:r>
              <a:rPr lang="en-US" sz="4613" b="1">
                <a:solidFill>
                  <a:srgbClr val="EBEBEB"/>
                </a:solidFill>
                <a:latin typeface="Poppins Bold"/>
                <a:ea typeface="Poppins Bold"/>
                <a:cs typeface="Poppins Bold"/>
                <a:sym typeface="Poppins Bold"/>
              </a:rPr>
              <a:t> to </a:t>
            </a:r>
            <a:r>
              <a:rPr lang="en-US" sz="4613" b="1">
                <a:solidFill>
                  <a:srgbClr val="C62828"/>
                </a:solidFill>
                <a:latin typeface="Poppins Bold"/>
                <a:ea typeface="Poppins Bold"/>
                <a:cs typeface="Poppins Bold"/>
                <a:sym typeface="Poppins Bold"/>
              </a:rPr>
              <a:t>actionable insight</a:t>
            </a:r>
            <a:r>
              <a:rPr lang="en-US" sz="4613" b="1">
                <a:solidFill>
                  <a:srgbClr val="EBEBEB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</p:txBody>
      </p:sp>
      <p:sp>
        <p:nvSpPr>
          <p:cNvPr id="22" name="Freeform 22"/>
          <p:cNvSpPr/>
          <p:nvPr/>
        </p:nvSpPr>
        <p:spPr>
          <a:xfrm>
            <a:off x="10664354" y="7280704"/>
            <a:ext cx="1968804" cy="437279"/>
          </a:xfrm>
          <a:custGeom>
            <a:avLst/>
            <a:gdLst/>
            <a:ahLst/>
            <a:cxnLst/>
            <a:rect l="l" t="t" r="r" b="b"/>
            <a:pathLst>
              <a:path w="1968804" h="437279">
                <a:moveTo>
                  <a:pt x="0" y="0"/>
                </a:moveTo>
                <a:lnTo>
                  <a:pt x="1968804" y="0"/>
                </a:lnTo>
                <a:lnTo>
                  <a:pt x="196880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TextBox 23"/>
          <p:cNvSpPr txBox="1"/>
          <p:nvPr/>
        </p:nvSpPr>
        <p:spPr>
          <a:xfrm>
            <a:off x="10753344" y="7938178"/>
            <a:ext cx="4901184" cy="1429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2"/>
              </a:lnSpc>
            </a:pPr>
            <a:r>
              <a:rPr lang="en-US" sz="2978">
                <a:solidFill>
                  <a:srgbClr val="EBEBEB"/>
                </a:solidFill>
                <a:latin typeface="Poppins"/>
                <a:ea typeface="Poppins"/>
                <a:cs typeface="Poppins"/>
                <a:sym typeface="Poppins"/>
              </a:rPr>
              <a:t>Thank you.</a:t>
            </a:r>
          </a:p>
          <a:p>
            <a:pPr algn="l">
              <a:lnSpc>
                <a:spcPts val="3722"/>
              </a:lnSpc>
            </a:pPr>
            <a:r>
              <a:rPr lang="en-US" sz="2978">
                <a:solidFill>
                  <a:srgbClr val="EBEBEB"/>
                </a:solidFill>
                <a:latin typeface="Poppins"/>
                <a:ea typeface="Poppins"/>
                <a:cs typeface="Poppins"/>
                <a:sym typeface="Poppins"/>
              </a:rPr>
              <a:t>We welcome your </a:t>
            </a:r>
            <a:r>
              <a:rPr lang="en-US" sz="2978">
                <a:solidFill>
                  <a:srgbClr val="C62828"/>
                </a:solidFill>
                <a:latin typeface="Poppins"/>
                <a:ea typeface="Poppins"/>
                <a:cs typeface="Poppins"/>
                <a:sym typeface="Poppins"/>
              </a:rPr>
              <a:t>questions</a:t>
            </a:r>
            <a:r>
              <a:rPr lang="en-US" sz="2978">
                <a:solidFill>
                  <a:srgbClr val="EBEBEB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sz="2978">
                <a:solidFill>
                  <a:srgbClr val="C62828"/>
                </a:solidFill>
                <a:latin typeface="Poppins"/>
                <a:ea typeface="Poppins"/>
                <a:cs typeface="Poppins"/>
                <a:sym typeface="Poppins"/>
              </a:rPr>
              <a:t>next steps</a:t>
            </a:r>
            <a:r>
              <a:rPr lang="en-US" sz="2978">
                <a:solidFill>
                  <a:srgbClr val="EBEBEB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640</Words>
  <Application>Microsoft Office PowerPoint</Application>
  <PresentationFormat>Custom</PresentationFormat>
  <Paragraphs>158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Poppins Heavy</vt:lpstr>
      <vt:lpstr>Poppins</vt:lpstr>
      <vt:lpstr>Arial</vt:lpstr>
      <vt:lpstr>Poppins Bold</vt:lpstr>
      <vt:lpstr>Calibri</vt:lpstr>
      <vt:lpstr>Poppins Medium</vt:lpstr>
      <vt:lpstr>Poppins Ultra-Bold</vt:lpstr>
      <vt:lpstr>Poppins Semi-Bold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Infinity Threat Intelligence</dc:title>
  <cp:lastModifiedBy>Mansi Kadia</cp:lastModifiedBy>
  <cp:revision>3</cp:revision>
  <dcterms:created xsi:type="dcterms:W3CDTF">2006-08-16T00:00:00Z</dcterms:created>
  <dcterms:modified xsi:type="dcterms:W3CDTF">2026-09-19T08:24:15Z</dcterms:modified>
  <dc:identifier>DAHVj3kNbns</dc:identifier>
</cp:coreProperties>
</file>