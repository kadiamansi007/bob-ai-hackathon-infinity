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IBM Plex Mono" panose="020B0509050203000203" pitchFamily="49" charset="0"/>
      <p:regular r:id="rId14"/>
    </p:embeddedFont>
    <p:embeddedFont>
      <p:font typeface="IBM Plex Mono Bold" panose="020B0604020202020204" charset="0"/>
      <p:regular r:id="rId15"/>
    </p:embeddedFont>
    <p:embeddedFont>
      <p:font typeface="IBM Plex Sans" panose="020F0502020204030204" pitchFamily="34" charset="0"/>
      <p:regular r:id="rId16"/>
    </p:embeddedFont>
    <p:embeddedFont>
      <p:font typeface="IBM Plex Sans Bold" panose="020B0604020202020204" charset="0"/>
      <p:regular r:id="rId17"/>
    </p:embeddedFont>
    <p:embeddedFont>
      <p:font typeface="Montserrat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54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KadiaMansi007/bob-ai-hackathon-Infinity/blob/main/docs/solution-overview.m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239000" y="0"/>
            <a:ext cx="11049000" cy="10287000"/>
          </a:xfrm>
          <a:custGeom>
            <a:avLst/>
            <a:gdLst/>
            <a:ahLst/>
            <a:cxnLst/>
            <a:rect l="l" t="t" r="r" b="b"/>
            <a:pathLst>
              <a:path w="11049000" h="10287000">
                <a:moveTo>
                  <a:pt x="0" y="0"/>
                </a:moveTo>
                <a:lnTo>
                  <a:pt x="11049000" y="0"/>
                </a:lnTo>
                <a:lnTo>
                  <a:pt x="11049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758" r="-32758"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5905500" y="0"/>
            <a:ext cx="7239000" cy="10287000"/>
            <a:chOff x="0" y="0"/>
            <a:chExt cx="9652000" cy="1371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652000" cy="13716000"/>
            </a:xfrm>
            <a:custGeom>
              <a:avLst/>
              <a:gdLst/>
              <a:ahLst/>
              <a:cxnLst/>
              <a:rect l="l" t="t" r="r" b="b"/>
              <a:pathLst>
                <a:path w="9652000" h="13716000">
                  <a:moveTo>
                    <a:pt x="0" y="0"/>
                  </a:moveTo>
                  <a:lnTo>
                    <a:pt x="9652000" y="0"/>
                  </a:lnTo>
                  <a:lnTo>
                    <a:pt x="965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11F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652000" cy="1375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57250" y="1066800"/>
            <a:ext cx="76200" cy="6667500"/>
            <a:chOff x="0" y="0"/>
            <a:chExt cx="101600" cy="889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600" cy="8890000"/>
            </a:xfrm>
            <a:custGeom>
              <a:avLst/>
              <a:gdLst/>
              <a:ahLst/>
              <a:cxnLst/>
              <a:rect l="l" t="t" r="r" b="b"/>
              <a:pathLst>
                <a:path w="101600" h="8890000">
                  <a:moveTo>
                    <a:pt x="0" y="0"/>
                  </a:moveTo>
                  <a:lnTo>
                    <a:pt x="101600" y="0"/>
                  </a:lnTo>
                  <a:lnTo>
                    <a:pt x="1016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39D5D0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1600" cy="8928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38250" y="1038225"/>
            <a:ext cx="5715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|  TRACK: AI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38250" y="2028825"/>
            <a:ext cx="10001250" cy="2349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2"/>
              </a:lnSpc>
            </a:pPr>
            <a:r>
              <a:rPr lang="en-US" sz="58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Threat Intelligence</a:t>
            </a:r>
          </a:p>
          <a:p>
            <a:pPr algn="l">
              <a:lnSpc>
                <a:spcPts val="6142"/>
              </a:lnSpc>
            </a:pPr>
            <a:r>
              <a:rPr lang="en-US" sz="58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Fusion &amp; Prioritisation</a:t>
            </a:r>
          </a:p>
          <a:p>
            <a:pPr algn="l">
              <a:lnSpc>
                <a:spcPts val="6142"/>
              </a:lnSpc>
            </a:pPr>
            <a:r>
              <a:rPr lang="en-US" sz="58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Platform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8250" y="5495925"/>
            <a:ext cx="7620000" cy="705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AI-powered SOC solution for multi-source threat fusion &amp; prioritisation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8250" y="7458075"/>
            <a:ext cx="7810500" cy="85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350" dirty="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  INFINITY</a:t>
            </a:r>
          </a:p>
          <a:p>
            <a:pPr algn="l">
              <a:lnSpc>
                <a:spcPts val="2295"/>
              </a:lnSpc>
            </a:pPr>
            <a:r>
              <a:rPr lang="en-US" sz="1350" dirty="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  Mansi Kadia,   Ashka Patel,   Panha Patel,   Khushi Palande</a:t>
            </a:r>
          </a:p>
          <a:p>
            <a:pPr algn="l">
              <a:lnSpc>
                <a:spcPts val="2295"/>
              </a:lnSpc>
            </a:pPr>
            <a:r>
              <a:rPr lang="en-US" sz="1350" dirty="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SEPTEMBER 15, 2026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91750" y="1047750"/>
            <a:ext cx="76200" cy="6191250"/>
            <a:chOff x="0" y="0"/>
            <a:chExt cx="101600" cy="8255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600" cy="8255000"/>
            </a:xfrm>
            <a:custGeom>
              <a:avLst/>
              <a:gdLst/>
              <a:ahLst/>
              <a:cxnLst/>
              <a:rect l="l" t="t" r="r" b="b"/>
              <a:pathLst>
                <a:path w="101600" h="8255000">
                  <a:moveTo>
                    <a:pt x="0" y="0"/>
                  </a:moveTo>
                  <a:lnTo>
                    <a:pt x="101600" y="0"/>
                  </a:lnTo>
                  <a:lnTo>
                    <a:pt x="1016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FF5964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1600" cy="829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7250" y="657225"/>
            <a:ext cx="3810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THE PROBLEM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7250" y="1247775"/>
            <a:ext cx="9048750" cy="110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3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Alert volume is rising.</a:t>
            </a:r>
          </a:p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3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Analyst capacity isn’t.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72750" y="1276350"/>
            <a:ext cx="6191250" cy="1335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800" b="1">
                <a:solidFill>
                  <a:srgbClr val="FF596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HUNDREDS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68000" y="2571750"/>
            <a:ext cx="533400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0233C"/>
                </a:solidFill>
                <a:latin typeface="IBM Plex Sans"/>
                <a:ea typeface="IBM Plex Sans"/>
                <a:cs typeface="IBM Plex Sans"/>
                <a:sym typeface="IBM Plex Sans"/>
              </a:rPr>
              <a:t>raw alerts every hour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72750" y="3819525"/>
            <a:ext cx="6191250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50"/>
              </a:lnSpc>
            </a:pPr>
            <a:r>
              <a:rPr lang="en-US" sz="9750" b="1">
                <a:solidFill>
                  <a:srgbClr val="4F7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30–90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68000" y="5362575"/>
            <a:ext cx="5715000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10233C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minutes of manual D2 correlation</a:t>
            </a:r>
          </a:p>
          <a:p>
            <a:pPr algn="l">
              <a:lnSpc>
                <a:spcPts val="2625"/>
              </a:lnSpc>
            </a:pPr>
            <a:r>
              <a:rPr lang="en-US" sz="2100">
                <a:solidFill>
                  <a:srgbClr val="10233C"/>
                </a:solidFill>
                <a:latin typeface="IBM Plex Sans"/>
                <a:ea typeface="IBM Plex Sans"/>
                <a:cs typeface="IBM Plex Sans"/>
                <a:sym typeface="IBM Plex Sans"/>
              </a:rPr>
              <a:t>per incident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7250" y="5876925"/>
            <a:ext cx="7620000" cy="658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0233C"/>
                </a:solidFill>
                <a:latin typeface="IBM Plex Sans"/>
                <a:ea typeface="IBM Plex Sans"/>
                <a:cs typeface="IBM Plex Sans"/>
                <a:sym typeface="IBM Plex Sans"/>
              </a:rPr>
              <a:t>False positives create debilitating fatigue. Genuine threats are delayed—or missed—while organizational risk compounds.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638175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CORE SOLUTION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1200150"/>
            <a:ext cx="10477500" cy="110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From noisy feeds to</a:t>
            </a:r>
          </a:p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explainable decisions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57250" y="4953000"/>
            <a:ext cx="2286000" cy="1428750"/>
            <a:chOff x="0" y="0"/>
            <a:chExt cx="3048000" cy="1905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48000" cy="1905000"/>
            </a:xfrm>
            <a:custGeom>
              <a:avLst/>
              <a:gdLst/>
              <a:ahLst/>
              <a:cxnLst/>
              <a:rect l="l" t="t" r="r" b="b"/>
              <a:pathLst>
                <a:path w="3048000" h="1905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809750"/>
                  </a:lnTo>
                  <a:cubicBezTo>
                    <a:pt x="3048000" y="1862355"/>
                    <a:pt x="3005355" y="1905000"/>
                    <a:pt x="2952750" y="1905000"/>
                  </a:cubicBezTo>
                  <a:lnTo>
                    <a:pt x="95250" y="1905000"/>
                  </a:lnTo>
                  <a:cubicBezTo>
                    <a:pt x="42645" y="1905000"/>
                    <a:pt x="0" y="1862355"/>
                    <a:pt x="0" y="1809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24A55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48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MULTI-SOURCE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INGEST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3162300" y="5667375"/>
            <a:ext cx="419100" cy="0"/>
          </a:xfrm>
          <a:prstGeom prst="line">
            <a:avLst/>
          </a:prstGeom>
          <a:ln w="38100" cap="rnd">
            <a:solidFill>
              <a:srgbClr val="39D5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3714750" y="4953000"/>
            <a:ext cx="2286000" cy="1428750"/>
            <a:chOff x="0" y="0"/>
            <a:chExt cx="3048000" cy="1905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48000" cy="1905000"/>
            </a:xfrm>
            <a:custGeom>
              <a:avLst/>
              <a:gdLst/>
              <a:ahLst/>
              <a:cxnLst/>
              <a:rect l="l" t="t" r="r" b="b"/>
              <a:pathLst>
                <a:path w="3048000" h="1905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809750"/>
                  </a:lnTo>
                  <a:cubicBezTo>
                    <a:pt x="3048000" y="1862355"/>
                    <a:pt x="3005355" y="1905000"/>
                    <a:pt x="2952750" y="1905000"/>
                  </a:cubicBezTo>
                  <a:lnTo>
                    <a:pt x="95250" y="1905000"/>
                  </a:lnTo>
                  <a:cubicBezTo>
                    <a:pt x="42645" y="1905000"/>
                    <a:pt x="0" y="1862355"/>
                    <a:pt x="0" y="1809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73651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048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NORMALISE +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SHA-256 DEDUPE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6019800" y="5667375"/>
            <a:ext cx="419100" cy="0"/>
          </a:xfrm>
          <a:prstGeom prst="line">
            <a:avLst/>
          </a:prstGeom>
          <a:ln w="38100" cap="rnd">
            <a:solidFill>
              <a:srgbClr val="39D5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6572250" y="4953000"/>
            <a:ext cx="2286000" cy="1428750"/>
            <a:chOff x="0" y="0"/>
            <a:chExt cx="3048000" cy="1905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048000" cy="1905000"/>
            </a:xfrm>
            <a:custGeom>
              <a:avLst/>
              <a:gdLst/>
              <a:ahLst/>
              <a:cxnLst/>
              <a:rect l="l" t="t" r="r" b="b"/>
              <a:pathLst>
                <a:path w="3048000" h="1905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809750"/>
                  </a:lnTo>
                  <a:cubicBezTo>
                    <a:pt x="3048000" y="1862355"/>
                    <a:pt x="3005355" y="1905000"/>
                    <a:pt x="2952750" y="1905000"/>
                  </a:cubicBezTo>
                  <a:lnTo>
                    <a:pt x="95250" y="1905000"/>
                  </a:lnTo>
                  <a:cubicBezTo>
                    <a:pt x="42645" y="1905000"/>
                    <a:pt x="0" y="1862355"/>
                    <a:pt x="0" y="1809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24A55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3048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CORRELATE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RULES C0–C5</a:t>
              </a:r>
            </a:p>
          </p:txBody>
        </p:sp>
      </p:grpSp>
      <p:sp>
        <p:nvSpPr>
          <p:cNvPr id="15" name="AutoShape 15"/>
          <p:cNvSpPr/>
          <p:nvPr/>
        </p:nvSpPr>
        <p:spPr>
          <a:xfrm>
            <a:off x="8877300" y="5667375"/>
            <a:ext cx="419100" cy="0"/>
          </a:xfrm>
          <a:prstGeom prst="line">
            <a:avLst/>
          </a:prstGeom>
          <a:ln w="38100" cap="rnd">
            <a:solidFill>
              <a:srgbClr val="39D5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9429750" y="4953000"/>
            <a:ext cx="2286000" cy="1428750"/>
            <a:chOff x="0" y="0"/>
            <a:chExt cx="3048000" cy="1905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48000" cy="1905000"/>
            </a:xfrm>
            <a:custGeom>
              <a:avLst/>
              <a:gdLst/>
              <a:ahLst/>
              <a:cxnLst/>
              <a:rect l="l" t="t" r="r" b="b"/>
              <a:pathLst>
                <a:path w="3048000" h="1905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809750"/>
                  </a:lnTo>
                  <a:cubicBezTo>
                    <a:pt x="3048000" y="1862355"/>
                    <a:pt x="3005355" y="1905000"/>
                    <a:pt x="2952750" y="1905000"/>
                  </a:cubicBezTo>
                  <a:lnTo>
                    <a:pt x="95250" y="1905000"/>
                  </a:lnTo>
                  <a:cubicBezTo>
                    <a:pt x="42645" y="1905000"/>
                    <a:pt x="0" y="1862355"/>
                    <a:pt x="0" y="1809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73651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048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WEIGHTED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RISK SCORE</a:t>
              </a:r>
            </a:p>
          </p:txBody>
        </p:sp>
      </p:grpSp>
      <p:sp>
        <p:nvSpPr>
          <p:cNvPr id="19" name="AutoShape 19"/>
          <p:cNvSpPr/>
          <p:nvPr/>
        </p:nvSpPr>
        <p:spPr>
          <a:xfrm>
            <a:off x="11734800" y="5667375"/>
            <a:ext cx="419100" cy="0"/>
          </a:xfrm>
          <a:prstGeom prst="line">
            <a:avLst/>
          </a:prstGeom>
          <a:ln w="38100" cap="rnd">
            <a:solidFill>
              <a:srgbClr val="39D5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0" name="Group 20"/>
          <p:cNvGrpSpPr/>
          <p:nvPr/>
        </p:nvGrpSpPr>
        <p:grpSpPr>
          <a:xfrm>
            <a:off x="12287250" y="4953000"/>
            <a:ext cx="2286000" cy="1428750"/>
            <a:chOff x="0" y="0"/>
            <a:chExt cx="3048000" cy="19050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048000" cy="1905000"/>
            </a:xfrm>
            <a:custGeom>
              <a:avLst/>
              <a:gdLst/>
              <a:ahLst/>
              <a:cxnLst/>
              <a:rect l="l" t="t" r="r" b="b"/>
              <a:pathLst>
                <a:path w="3048000" h="1905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809750"/>
                  </a:lnTo>
                  <a:cubicBezTo>
                    <a:pt x="3048000" y="1862355"/>
                    <a:pt x="3005355" y="1905000"/>
                    <a:pt x="2952750" y="1905000"/>
                  </a:cubicBezTo>
                  <a:lnTo>
                    <a:pt x="95250" y="1905000"/>
                  </a:lnTo>
                  <a:cubicBezTo>
                    <a:pt x="42645" y="1905000"/>
                    <a:pt x="0" y="1862355"/>
                    <a:pt x="0" y="1809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124A55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3048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MITRE ATT&amp;CK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CONTEXT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>
            <a:off x="14592300" y="5667375"/>
            <a:ext cx="419100" cy="0"/>
          </a:xfrm>
          <a:prstGeom prst="line">
            <a:avLst/>
          </a:prstGeom>
          <a:ln w="38100" cap="rnd">
            <a:solidFill>
              <a:srgbClr val="39D5D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4" name="Group 24"/>
          <p:cNvGrpSpPr/>
          <p:nvPr/>
        </p:nvGrpSpPr>
        <p:grpSpPr>
          <a:xfrm>
            <a:off x="15144750" y="4953000"/>
            <a:ext cx="2286000" cy="1428750"/>
            <a:chOff x="0" y="0"/>
            <a:chExt cx="3048000" cy="19050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048000" cy="1905000"/>
            </a:xfrm>
            <a:custGeom>
              <a:avLst/>
              <a:gdLst/>
              <a:ahLst/>
              <a:cxnLst/>
              <a:rect l="l" t="t" r="r" b="b"/>
              <a:pathLst>
                <a:path w="3048000" h="1905000">
                  <a:moveTo>
                    <a:pt x="95250" y="0"/>
                  </a:moveTo>
                  <a:lnTo>
                    <a:pt x="2952750" y="0"/>
                  </a:lnTo>
                  <a:cubicBezTo>
                    <a:pt x="3005355" y="0"/>
                    <a:pt x="3048000" y="42645"/>
                    <a:pt x="3048000" y="95250"/>
                  </a:cubicBezTo>
                  <a:lnTo>
                    <a:pt x="3048000" y="1809750"/>
                  </a:lnTo>
                  <a:cubicBezTo>
                    <a:pt x="3048000" y="1862355"/>
                    <a:pt x="3005355" y="1905000"/>
                    <a:pt x="2952750" y="1905000"/>
                  </a:cubicBezTo>
                  <a:lnTo>
                    <a:pt x="95250" y="1905000"/>
                  </a:lnTo>
                  <a:cubicBezTo>
                    <a:pt x="42645" y="1905000"/>
                    <a:pt x="0" y="1862355"/>
                    <a:pt x="0" y="1809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4F7CFF"/>
            </a:solidFill>
            <a:ln cap="sq">
              <a:noFill/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3048000" cy="1943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BOB AI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INDEPENDENT REVIEW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857250" y="7381875"/>
            <a:ext cx="14287500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217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Deterministic correlation and transparent component scores remain auditable—while Bob adds an independent reasoning layer via MCP.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90550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PLATFORM CAPABILITIES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1123950"/>
            <a:ext cx="1381125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3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Five capabilities. One prioritisation loop.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57250" y="3143250"/>
            <a:ext cx="5048250" cy="2333625"/>
            <a:chOff x="0" y="0"/>
            <a:chExt cx="6731000" cy="31115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6731000" cy="3111500"/>
              <a:chOff x="0" y="0"/>
              <a:chExt cx="6731000" cy="31115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731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1115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6731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0" y="0"/>
              <a:ext cx="76200" cy="3111500"/>
              <a:chOff x="0" y="0"/>
              <a:chExt cx="76200" cy="31115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762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111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4F7C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762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0" y="-38100"/>
              <a:ext cx="889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79500" y="-47625"/>
              <a:ext cx="5461000" cy="438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0233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MULTI-SOURCE INGESTION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79500" y="768350"/>
              <a:ext cx="5334000" cy="690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72839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SIEM, sensors, satellite and intelligence reports enter one normalised pipeline.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381750" y="3143250"/>
            <a:ext cx="5048250" cy="2333625"/>
            <a:chOff x="0" y="0"/>
            <a:chExt cx="6731000" cy="3111500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6731000" cy="3111500"/>
              <a:chOff x="0" y="0"/>
              <a:chExt cx="6731000" cy="31115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731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1115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6731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76200" cy="3111500"/>
              <a:chOff x="0" y="0"/>
              <a:chExt cx="76200" cy="3111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762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111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4F7C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762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-38100"/>
              <a:ext cx="889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9500" y="-47625"/>
              <a:ext cx="5461000" cy="438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0233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DETERMINISTIC CORRELATION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9500" y="768350"/>
              <a:ext cx="5334000" cy="690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72839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Rules group related alerts into incidents and auto-classify them.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906250" y="3143250"/>
            <a:ext cx="5048250" cy="2333625"/>
            <a:chOff x="0" y="0"/>
            <a:chExt cx="6731000" cy="3111500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6731000" cy="3111500"/>
              <a:chOff x="0" y="0"/>
              <a:chExt cx="6731000" cy="31115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731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1115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6731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0" y="0"/>
              <a:ext cx="76200" cy="3111500"/>
              <a:chOff x="0" y="0"/>
              <a:chExt cx="76200" cy="3111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762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111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4F7C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762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0" y="-38100"/>
              <a:ext cx="889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79500" y="-47625"/>
              <a:ext cx="5461000" cy="438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0233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EXPLAINABLE RISK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79500" y="768350"/>
              <a:ext cx="5334000" cy="690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72839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Five component scores are surfaced individually—not hidden in a black box.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57250" y="6191250"/>
            <a:ext cx="5048250" cy="2333625"/>
            <a:chOff x="0" y="0"/>
            <a:chExt cx="6731000" cy="31115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6731000" cy="3111500"/>
              <a:chOff x="0" y="0"/>
              <a:chExt cx="6731000" cy="31115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6731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1115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6731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0" y="0"/>
              <a:ext cx="76200" cy="3111500"/>
              <a:chOff x="0" y="0"/>
              <a:chExt cx="76200" cy="31115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62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111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39D5D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762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0" y="-38100"/>
              <a:ext cx="889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9500" y="-47625"/>
              <a:ext cx="5461000" cy="438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0233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BOB AI REVIEW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79500" y="768350"/>
              <a:ext cx="5334000" cy="690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72839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Independent classification, rationale, BLUF summaries and agreement tracking.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81750" y="6191250"/>
            <a:ext cx="5048250" cy="2333625"/>
            <a:chOff x="0" y="0"/>
            <a:chExt cx="6731000" cy="3111500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6731000" cy="3111500"/>
              <a:chOff x="0" y="0"/>
              <a:chExt cx="6731000" cy="31115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67310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1115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38100"/>
                <a:ext cx="67310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0" y="0"/>
              <a:ext cx="76200" cy="3111500"/>
              <a:chOff x="0" y="0"/>
              <a:chExt cx="76200" cy="31115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76200" cy="31115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111500">
                    <a:moveTo>
                      <a:pt x="0" y="0"/>
                    </a:moveTo>
                    <a:lnTo>
                      <a:pt x="76200" y="0"/>
                    </a:lnTo>
                    <a:lnTo>
                      <a:pt x="76200" y="3111500"/>
                    </a:lnTo>
                    <a:lnTo>
                      <a:pt x="0" y="3111500"/>
                    </a:lnTo>
                    <a:close/>
                  </a:path>
                </a:pathLst>
              </a:custGeom>
              <a:solidFill>
                <a:srgbClr val="4F7C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0" y="-38100"/>
                <a:ext cx="76200" cy="31496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51" name="TextBox 51"/>
            <p:cNvSpPr txBox="1"/>
            <p:nvPr/>
          </p:nvSpPr>
          <p:spPr>
            <a:xfrm>
              <a:off x="0" y="-38100"/>
              <a:ext cx="889000" cy="3632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79500" y="-47625"/>
              <a:ext cx="5461000" cy="4387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1">
                  <a:solidFill>
                    <a:srgbClr val="10233C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DUAL-LAYER DASHBOARD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9500" y="768350"/>
              <a:ext cx="5334000" cy="6902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26"/>
                </a:lnSpc>
              </a:pPr>
              <a:r>
                <a:rPr lang="en-US" sz="1575">
                  <a:solidFill>
                    <a:srgbClr val="728399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Pipeline and AI assessments sit side-by-side with MITRE ATT&amp;CK context.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90550"/>
            <a:ext cx="6191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IBM BOB AI INTEGRATION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1152525"/>
            <a:ext cx="8572500" cy="110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Independent reasoning.</a:t>
            </a:r>
          </a:p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Shared evidence.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143000" y="4476750"/>
            <a:ext cx="4476750" cy="2000250"/>
            <a:chOff x="0" y="0"/>
            <a:chExt cx="5969000" cy="2667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969000" cy="2667000"/>
            </a:xfrm>
            <a:custGeom>
              <a:avLst/>
              <a:gdLst/>
              <a:ahLst/>
              <a:cxnLst/>
              <a:rect l="l" t="t" r="r" b="b"/>
              <a:pathLst>
                <a:path w="5969000" h="2667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2618362"/>
                  </a:lnTo>
                  <a:cubicBezTo>
                    <a:pt x="5969000" y="2631261"/>
                    <a:pt x="5963876" y="2643633"/>
                    <a:pt x="5954754" y="2652754"/>
                  </a:cubicBezTo>
                  <a:cubicBezTo>
                    <a:pt x="5945633" y="2661876"/>
                    <a:pt x="5933261" y="2667000"/>
                    <a:pt x="5920362" y="2667000"/>
                  </a:cubicBezTo>
                  <a:lnTo>
                    <a:pt x="48638" y="2667000"/>
                  </a:lnTo>
                  <a:cubicBezTo>
                    <a:pt x="35739" y="2667000"/>
                    <a:pt x="23367" y="2661876"/>
                    <a:pt x="14246" y="2652754"/>
                  </a:cubicBezTo>
                  <a:cubicBezTo>
                    <a:pt x="5124" y="2643633"/>
                    <a:pt x="0" y="2631261"/>
                    <a:pt x="0" y="2618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124A55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969000" cy="270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DETERMINISTIC PIPELINE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Rules · components · decision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143750" y="4953000"/>
            <a:ext cx="2381250" cy="1047750"/>
            <a:chOff x="0" y="0"/>
            <a:chExt cx="3175000" cy="139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75000" cy="1397000"/>
            </a:xfrm>
            <a:custGeom>
              <a:avLst/>
              <a:gdLst/>
              <a:ahLst/>
              <a:cxnLst/>
              <a:rect l="l" t="t" r="r" b="b"/>
              <a:pathLst>
                <a:path w="3175000" h="1397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1305560"/>
                  </a:lnTo>
                  <a:cubicBezTo>
                    <a:pt x="3175000" y="1356061"/>
                    <a:pt x="3134061" y="1397000"/>
                    <a:pt x="3083560" y="1397000"/>
                  </a:cubicBezTo>
                  <a:lnTo>
                    <a:pt x="91440" y="1397000"/>
                  </a:lnTo>
                  <a:cubicBezTo>
                    <a:pt x="40939" y="1397000"/>
                    <a:pt x="0" y="1356061"/>
                    <a:pt x="0" y="1305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4F7CFF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175000" cy="143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MCP SERVER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049000" y="4476750"/>
            <a:ext cx="5143500" cy="2000250"/>
            <a:chOff x="0" y="0"/>
            <a:chExt cx="6858000" cy="2667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58000" cy="2667000"/>
            </a:xfrm>
            <a:custGeom>
              <a:avLst/>
              <a:gdLst/>
              <a:ahLst/>
              <a:cxnLst/>
              <a:rect l="l" t="t" r="r" b="b"/>
              <a:pathLst>
                <a:path w="6858000" h="2667000">
                  <a:moveTo>
                    <a:pt x="42333" y="0"/>
                  </a:moveTo>
                  <a:lnTo>
                    <a:pt x="6815667" y="0"/>
                  </a:lnTo>
                  <a:cubicBezTo>
                    <a:pt x="6826894" y="0"/>
                    <a:pt x="6837662" y="4460"/>
                    <a:pt x="6845601" y="12399"/>
                  </a:cubicBezTo>
                  <a:cubicBezTo>
                    <a:pt x="6853540" y="20338"/>
                    <a:pt x="6858000" y="31106"/>
                    <a:pt x="6858000" y="42333"/>
                  </a:cubicBezTo>
                  <a:lnTo>
                    <a:pt x="6858000" y="2624667"/>
                  </a:lnTo>
                  <a:cubicBezTo>
                    <a:pt x="6858000" y="2635894"/>
                    <a:pt x="6853540" y="2646662"/>
                    <a:pt x="6845601" y="2654601"/>
                  </a:cubicBezTo>
                  <a:cubicBezTo>
                    <a:pt x="6837662" y="2662540"/>
                    <a:pt x="6826894" y="2667000"/>
                    <a:pt x="6815667" y="2667000"/>
                  </a:cubicBezTo>
                  <a:lnTo>
                    <a:pt x="42333" y="2667000"/>
                  </a:lnTo>
                  <a:cubicBezTo>
                    <a:pt x="31106" y="2667000"/>
                    <a:pt x="20338" y="2662540"/>
                    <a:pt x="12399" y="2654601"/>
                  </a:cubicBezTo>
                  <a:cubicBezTo>
                    <a:pt x="4460" y="2646662"/>
                    <a:pt x="0" y="2635894"/>
                    <a:pt x="0" y="2624667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263F76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6858000" cy="270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IBM BOB AI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Classify · explain · BLUF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>
            <a:off x="5619750" y="5476875"/>
            <a:ext cx="1381125" cy="0"/>
          </a:xfrm>
          <a:prstGeom prst="line">
            <a:avLst/>
          </a:prstGeom>
          <a:ln w="47625" cap="rnd">
            <a:solidFill>
              <a:srgbClr val="39D5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9525000" y="5476875"/>
            <a:ext cx="1381125" cy="0"/>
          </a:xfrm>
          <a:prstGeom prst="line">
            <a:avLst/>
          </a:prstGeom>
          <a:ln w="47625" cap="rnd">
            <a:solidFill>
              <a:srgbClr val="39D5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857250" y="7867650"/>
            <a:ext cx="104775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Combined deterministic + AI decisions preserve explainability and auditability.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43750" y="6638925"/>
            <a:ext cx="238125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>
                <a:solidFill>
                  <a:srgbClr val="39D5D0"/>
                </a:solidFill>
                <a:latin typeface="IBM Plex Mono"/>
                <a:ea typeface="IBM Plex Mono"/>
                <a:cs typeface="IBM Plex Mono"/>
                <a:sym typeface="IBM Plex Mono"/>
              </a:rPr>
              <a:t>agreement_status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90550"/>
            <a:ext cx="4762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TECHNOLOGY STACK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1152525"/>
            <a:ext cx="9525000" cy="110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3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Built for speed, clarity</a:t>
            </a:r>
          </a:p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3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and zero-config deployment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6953250" y="2381250"/>
            <a:ext cx="10001250" cy="876300"/>
            <a:chOff x="0" y="0"/>
            <a:chExt cx="13335000" cy="1168400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3335000" cy="1168400"/>
              <a:chOff x="0" y="0"/>
              <a:chExt cx="13335000" cy="1168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33350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0" h="1168400">
                    <a:moveTo>
                      <a:pt x="0" y="0"/>
                    </a:moveTo>
                    <a:lnTo>
                      <a:pt x="13335000" y="0"/>
                    </a:lnTo>
                    <a:lnTo>
                      <a:pt x="13335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3335000" cy="120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508000" y="415925"/>
              <a:ext cx="330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EXPERIENCE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64000" y="352425"/>
              <a:ext cx="889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0233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React 18 · Vite · TailwindCSS · shadcn/ui · TanStack Query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53250" y="3571875"/>
            <a:ext cx="10001250" cy="876300"/>
            <a:chOff x="0" y="0"/>
            <a:chExt cx="13335000" cy="1168400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3335000" cy="1168400"/>
              <a:chOff x="0" y="0"/>
              <a:chExt cx="13335000" cy="1168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3350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0" h="1168400">
                    <a:moveTo>
                      <a:pt x="0" y="0"/>
                    </a:moveTo>
                    <a:lnTo>
                      <a:pt x="13335000" y="0"/>
                    </a:lnTo>
                    <a:lnTo>
                      <a:pt x="13335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E8EE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3335000" cy="120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508000" y="415925"/>
              <a:ext cx="330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SERVICES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64000" y="352425"/>
              <a:ext cx="889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0233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FastAPI · SQLAlchemy · Pydantic v2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953250" y="4762500"/>
            <a:ext cx="10001250" cy="876300"/>
            <a:chOff x="0" y="0"/>
            <a:chExt cx="13335000" cy="1168400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3335000" cy="1168400"/>
              <a:chOff x="0" y="0"/>
              <a:chExt cx="13335000" cy="1168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33350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0" h="1168400">
                    <a:moveTo>
                      <a:pt x="0" y="0"/>
                    </a:moveTo>
                    <a:lnTo>
                      <a:pt x="13335000" y="0"/>
                    </a:lnTo>
                    <a:lnTo>
                      <a:pt x="13335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3335000" cy="120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508000" y="415925"/>
              <a:ext cx="330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INTELLIGENCE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64000" y="352425"/>
              <a:ext cx="889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0233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IBM Bob · Model Context Protocol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53250" y="5953125"/>
            <a:ext cx="10001250" cy="876300"/>
            <a:chOff x="0" y="0"/>
            <a:chExt cx="13335000" cy="11684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0"/>
              <a:ext cx="13335000" cy="1168400"/>
              <a:chOff x="0" y="0"/>
              <a:chExt cx="13335000" cy="11684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133350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0" h="1168400">
                    <a:moveTo>
                      <a:pt x="0" y="0"/>
                    </a:moveTo>
                    <a:lnTo>
                      <a:pt x="13335000" y="0"/>
                    </a:lnTo>
                    <a:lnTo>
                      <a:pt x="13335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E8EEF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13335000" cy="120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508000" y="415925"/>
              <a:ext cx="330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FOUNDATION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64000" y="352425"/>
              <a:ext cx="889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0233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Python 3.11 · TypeScript · SQLite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953250" y="7143750"/>
            <a:ext cx="10001250" cy="876300"/>
            <a:chOff x="0" y="0"/>
            <a:chExt cx="13335000" cy="11684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0"/>
              <a:ext cx="13335000" cy="1168400"/>
              <a:chOff x="0" y="0"/>
              <a:chExt cx="13335000" cy="11684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3335000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00" h="1168400">
                    <a:moveTo>
                      <a:pt x="0" y="0"/>
                    </a:moveTo>
                    <a:lnTo>
                      <a:pt x="13335000" y="0"/>
                    </a:lnTo>
                    <a:lnTo>
                      <a:pt x="13335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13335000" cy="1206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508000" y="415925"/>
              <a:ext cx="3302000" cy="310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en-US" sz="1425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DELIVERY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64000" y="352425"/>
              <a:ext cx="8890000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10233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Docker · Compose · GitHub Actions · Pytest · Vitest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047750" y="5229225"/>
            <a:ext cx="4286250" cy="141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15"/>
              </a:lnSpc>
            </a:pPr>
            <a:r>
              <a:rPr lang="en-US" sz="5700" b="1">
                <a:solidFill>
                  <a:srgbClr val="4F7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ZERO</a:t>
            </a:r>
          </a:p>
          <a:p>
            <a:pPr algn="l">
              <a:lnSpc>
                <a:spcPts val="5415"/>
              </a:lnSpc>
            </a:pPr>
            <a:r>
              <a:rPr lang="en-US" sz="5700" b="1">
                <a:solidFill>
                  <a:srgbClr val="4F7C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CONFIG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7750" y="6838950"/>
            <a:ext cx="4572000" cy="61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728399"/>
                </a:solidFill>
                <a:latin typeface="IBM Plex Sans"/>
                <a:ea typeface="IBM Plex Sans"/>
                <a:cs typeface="IBM Plex Sans"/>
                <a:sym typeface="IBM Plex Sans"/>
              </a:rPr>
              <a:t>File-based SQLite and containerized delivery keep local setup friction low.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495300"/>
            <a:ext cx="666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PRODUCT  /  ANALYST DASHBOARD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1028700"/>
            <a:ext cx="95250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SOC command centre</a:t>
            </a:r>
          </a:p>
        </p:txBody>
      </p:sp>
      <p:sp>
        <p:nvSpPr>
          <p:cNvPr id="4" name="Freeform 4"/>
          <p:cNvSpPr/>
          <p:nvPr/>
        </p:nvSpPr>
        <p:spPr>
          <a:xfrm>
            <a:off x="857250" y="2333625"/>
            <a:ext cx="13525500" cy="6191250"/>
          </a:xfrm>
          <a:custGeom>
            <a:avLst/>
            <a:gdLst/>
            <a:ahLst/>
            <a:cxnLst/>
            <a:rect l="l" t="t" r="r" b="b"/>
            <a:pathLst>
              <a:path w="13525500" h="6191250">
                <a:moveTo>
                  <a:pt x="0" y="0"/>
                </a:moveTo>
                <a:lnTo>
                  <a:pt x="13525500" y="0"/>
                </a:lnTo>
                <a:lnTo>
                  <a:pt x="13525500" y="6191250"/>
                </a:lnTo>
                <a:lnTo>
                  <a:pt x="0" y="619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763" b="-13763"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4954250" y="2781300"/>
            <a:ext cx="952500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39D5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54250" y="3505200"/>
            <a:ext cx="2476500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TOTAL ALERTS</a:t>
            </a:r>
          </a:p>
          <a:p>
            <a:pPr algn="l">
              <a:lnSpc>
                <a:spcPts val="3000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INCIDENTS</a:t>
            </a:r>
          </a:p>
          <a:p>
            <a:pPr algn="l">
              <a:lnSpc>
                <a:spcPts val="3000"/>
              </a:lnSpc>
            </a:pPr>
            <a:r>
              <a:rPr lang="en-US" sz="150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FP RATE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54250" y="6153150"/>
            <a:ext cx="2476500" cy="121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728399"/>
                </a:solidFill>
                <a:latin typeface="IBM Plex Sans"/>
                <a:ea typeface="IBM Plex Sans"/>
                <a:cs typeface="IBM Plex Sans"/>
                <a:sym typeface="IBM Plex Sans"/>
              </a:rPr>
              <a:t>Dual-layer view aligns deterministic classification with Bob AI assessment.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495300"/>
            <a:ext cx="5715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PRODUCT  /  ALERT FEED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1028700"/>
            <a:ext cx="904875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3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Noise in. Signal out.</a:t>
            </a:r>
          </a:p>
        </p:txBody>
      </p:sp>
      <p:sp>
        <p:nvSpPr>
          <p:cNvPr id="4" name="Freeform 4"/>
          <p:cNvSpPr/>
          <p:nvPr/>
        </p:nvSpPr>
        <p:spPr>
          <a:xfrm>
            <a:off x="857250" y="2333625"/>
            <a:ext cx="10287000" cy="6019800"/>
          </a:xfrm>
          <a:custGeom>
            <a:avLst/>
            <a:gdLst/>
            <a:ahLst/>
            <a:cxnLst/>
            <a:rect l="l" t="t" r="r" b="b"/>
            <a:pathLst>
              <a:path w="10287000" h="6019800">
                <a:moveTo>
                  <a:pt x="0" y="0"/>
                </a:moveTo>
                <a:lnTo>
                  <a:pt x="10287000" y="0"/>
                </a:lnTo>
                <a:lnTo>
                  <a:pt x="10287000" y="6019800"/>
                </a:lnTo>
                <a:lnTo>
                  <a:pt x="0" y="6019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2" r="-122"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1477625" y="2333625"/>
            <a:ext cx="57150" cy="6019800"/>
            <a:chOff x="0" y="0"/>
            <a:chExt cx="76200" cy="802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6200" cy="8026400"/>
            </a:xfrm>
            <a:custGeom>
              <a:avLst/>
              <a:gdLst/>
              <a:ahLst/>
              <a:cxnLst/>
              <a:rect l="l" t="t" r="r" b="b"/>
              <a:pathLst>
                <a:path w="76200" h="8026400">
                  <a:moveTo>
                    <a:pt x="0" y="0"/>
                  </a:moveTo>
                  <a:lnTo>
                    <a:pt x="76200" y="0"/>
                  </a:lnTo>
                  <a:lnTo>
                    <a:pt x="76200" y="8026400"/>
                  </a:lnTo>
                  <a:lnTo>
                    <a:pt x="0" y="8026400"/>
                  </a:lnTo>
                  <a:close/>
                </a:path>
              </a:pathLst>
            </a:custGeom>
            <a:solidFill>
              <a:srgbClr val="39D5D0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76200" cy="806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16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811000" y="3038475"/>
            <a:ext cx="4762500" cy="160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F7CFF"/>
                </a:solidFill>
                <a:latin typeface="IBM Plex Mono"/>
                <a:ea typeface="IBM Plex Mono"/>
                <a:cs typeface="IBM Plex Mono"/>
                <a:sym typeface="IBM Plex Mono"/>
              </a:rPr>
              <a:t>failed_login_burst</a:t>
            </a:r>
          </a:p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F7CFF"/>
                </a:solidFill>
                <a:latin typeface="IBM Plex Mono"/>
                <a:ea typeface="IBM Plex Mono"/>
                <a:cs typeface="IBM Plex Mono"/>
                <a:sym typeface="IBM Plex Mono"/>
              </a:rPr>
              <a:t>port_scan</a:t>
            </a:r>
          </a:p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F7CFF"/>
                </a:solidFill>
                <a:latin typeface="IBM Plex Mono"/>
                <a:ea typeface="IBM Plex Mono"/>
                <a:cs typeface="IBM Plex Mono"/>
                <a:sym typeface="IBM Plex Mono"/>
              </a:rPr>
              <a:t>malware_hash_match</a:t>
            </a:r>
          </a:p>
          <a:p>
            <a:pPr algn="l">
              <a:lnSpc>
                <a:spcPts val="3240"/>
              </a:lnSpc>
            </a:pPr>
            <a:r>
              <a:rPr lang="en-US" sz="1800">
                <a:solidFill>
                  <a:srgbClr val="4F7CFF"/>
                </a:solidFill>
                <a:latin typeface="IBM Plex Mono"/>
                <a:ea typeface="IBM Plex Mono"/>
                <a:cs typeface="IBM Plex Mono"/>
                <a:sym typeface="IBM Plex Mono"/>
              </a:rPr>
              <a:t>ioc_match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811000" y="7305675"/>
            <a:ext cx="5334000" cy="99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1950">
                <a:solidFill>
                  <a:srgbClr val="10233C"/>
                </a:solidFill>
                <a:latin typeface="IBM Plex Sans"/>
                <a:ea typeface="IBM Plex Sans"/>
                <a:cs typeface="IBM Plex Sans"/>
                <a:sym typeface="IBM Plex Sans"/>
              </a:rPr>
              <a:t>Filter by severity, source and state. SHA-256 deduplication keeps multi-source evidence clear.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495300"/>
            <a:ext cx="7620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SPECIALISED SOURCE  /  SATELLITE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1123950"/>
            <a:ext cx="8096250" cy="110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 severity.</a:t>
            </a:r>
          </a:p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Granular confidence.</a:t>
            </a:r>
          </a:p>
        </p:txBody>
      </p:sp>
      <p:sp>
        <p:nvSpPr>
          <p:cNvPr id="4" name="Freeform 4"/>
          <p:cNvSpPr/>
          <p:nvPr/>
        </p:nvSpPr>
        <p:spPr>
          <a:xfrm>
            <a:off x="857250" y="4095750"/>
            <a:ext cx="11430000" cy="4810125"/>
          </a:xfrm>
          <a:custGeom>
            <a:avLst/>
            <a:gdLst/>
            <a:ahLst/>
            <a:cxnLst/>
            <a:rect l="l" t="t" r="r" b="b"/>
            <a:pathLst>
              <a:path w="11430000" h="4810125">
                <a:moveTo>
                  <a:pt x="0" y="0"/>
                </a:moveTo>
                <a:lnTo>
                  <a:pt x="11430000" y="0"/>
                </a:lnTo>
                <a:lnTo>
                  <a:pt x="11430000" y="4810125"/>
                </a:lnTo>
                <a:lnTo>
                  <a:pt x="0" y="481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801" b="-19801"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3144500" y="2057400"/>
            <a:ext cx="3810000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 b="1">
                <a:solidFill>
                  <a:srgbClr val="39D5D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76%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335000" y="3638550"/>
            <a:ext cx="3429000" cy="1010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2"/>
              </a:lnSpc>
            </a:pPr>
            <a:r>
              <a:rPr lang="en-US" sz="16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CONFIDENCE</a:t>
            </a:r>
          </a:p>
          <a:p>
            <a:pPr algn="l">
              <a:lnSpc>
                <a:spcPts val="2722"/>
              </a:lnSpc>
            </a:pPr>
            <a:r>
              <a:rPr lang="en-US" sz="16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rf_signal_anomaly</a:t>
            </a:r>
          </a:p>
          <a:p>
            <a:pPr algn="l">
              <a:lnSpc>
                <a:spcPts val="2722"/>
              </a:lnSpc>
            </a:pPr>
            <a:r>
              <a:rPr lang="en-US" sz="1650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ZONE-ALPHA-7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495300"/>
            <a:ext cx="7429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PRODUCT  /  CORRELATED INCIDENTS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1057275"/>
            <a:ext cx="11430000" cy="55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1023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One incident. Two assessments.</a:t>
            </a:r>
          </a:p>
        </p:txBody>
      </p:sp>
      <p:sp>
        <p:nvSpPr>
          <p:cNvPr id="4" name="Freeform 4"/>
          <p:cNvSpPr/>
          <p:nvPr/>
        </p:nvSpPr>
        <p:spPr>
          <a:xfrm>
            <a:off x="857250" y="2333625"/>
            <a:ext cx="13811250" cy="5810250"/>
          </a:xfrm>
          <a:custGeom>
            <a:avLst/>
            <a:gdLst/>
            <a:ahLst/>
            <a:cxnLst/>
            <a:rect l="l" t="t" r="r" b="b"/>
            <a:pathLst>
              <a:path w="13811250" h="5810250">
                <a:moveTo>
                  <a:pt x="0" y="0"/>
                </a:moveTo>
                <a:lnTo>
                  <a:pt x="13811250" y="0"/>
                </a:lnTo>
                <a:lnTo>
                  <a:pt x="13811250" y="5810250"/>
                </a:lnTo>
                <a:lnTo>
                  <a:pt x="0" y="581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9677" b="-19677"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5144750" y="3048000"/>
            <a:ext cx="2190750" cy="1285875"/>
            <a:chOff x="0" y="0"/>
            <a:chExt cx="2921000" cy="1714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21000" cy="1714500"/>
            </a:xfrm>
            <a:custGeom>
              <a:avLst/>
              <a:gdLst/>
              <a:ahLst/>
              <a:cxnLst/>
              <a:rect l="l" t="t" r="r" b="b"/>
              <a:pathLst>
                <a:path w="2921000" h="17145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1615109"/>
                  </a:lnTo>
                  <a:cubicBezTo>
                    <a:pt x="2921000" y="1670001"/>
                    <a:pt x="2876501" y="1714500"/>
                    <a:pt x="2821609" y="1714500"/>
                  </a:cubicBezTo>
                  <a:lnTo>
                    <a:pt x="99391" y="1714500"/>
                  </a:lnTo>
                  <a:cubicBezTo>
                    <a:pt x="44499" y="1714500"/>
                    <a:pt x="0" y="1670001"/>
                    <a:pt x="0" y="16151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4F7C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921000" cy="175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PIPELINE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DECISION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44750" y="5048250"/>
            <a:ext cx="2190750" cy="1285875"/>
            <a:chOff x="0" y="0"/>
            <a:chExt cx="2921000" cy="17145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21000" cy="1714500"/>
            </a:xfrm>
            <a:custGeom>
              <a:avLst/>
              <a:gdLst/>
              <a:ahLst/>
              <a:cxnLst/>
              <a:rect l="l" t="t" r="r" b="b"/>
              <a:pathLst>
                <a:path w="2921000" h="17145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1615109"/>
                  </a:lnTo>
                  <a:cubicBezTo>
                    <a:pt x="2921000" y="1670001"/>
                    <a:pt x="2876501" y="1714500"/>
                    <a:pt x="2821609" y="1714500"/>
                  </a:cubicBezTo>
                  <a:lnTo>
                    <a:pt x="99391" y="1714500"/>
                  </a:lnTo>
                  <a:cubicBezTo>
                    <a:pt x="44499" y="1714500"/>
                    <a:pt x="0" y="1670001"/>
                    <a:pt x="0" y="16151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24A55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921000" cy="1752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BOB AI</a:t>
              </a:r>
            </a:p>
            <a:p>
              <a:pPr algn="ctr">
                <a:lnSpc>
                  <a:spcPts val="2310"/>
                </a:lnSpc>
              </a:pPr>
              <a:r>
                <a:rPr lang="en-US" sz="1650" b="1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REVIEW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16240125" y="4333875"/>
            <a:ext cx="0" cy="571500"/>
          </a:xfrm>
          <a:prstGeom prst="line">
            <a:avLst/>
          </a:prstGeom>
          <a:ln w="47625" cap="rnd">
            <a:solidFill>
              <a:srgbClr val="39D5D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857250" y="8439150"/>
            <a:ext cx="13811250" cy="331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10233C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Status, severity, correlation rule, score and last seen—plus Bob agreement at the point of decision.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495300"/>
            <a:ext cx="66675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CONTEXT  /  MITRE ATT&amp;CK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1057275"/>
            <a:ext cx="9048750" cy="110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Translate incidents into</a:t>
            </a:r>
          </a:p>
          <a:p>
            <a:pPr algn="l">
              <a:lnSpc>
                <a:spcPts val="4374"/>
              </a:lnSpc>
            </a:pPr>
            <a:r>
              <a:rPr lang="en-US" sz="4050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adversary behaviour</a:t>
            </a:r>
          </a:p>
        </p:txBody>
      </p:sp>
      <p:sp>
        <p:nvSpPr>
          <p:cNvPr id="4" name="Freeform 4"/>
          <p:cNvSpPr/>
          <p:nvPr/>
        </p:nvSpPr>
        <p:spPr>
          <a:xfrm>
            <a:off x="857250" y="3714750"/>
            <a:ext cx="10287000" cy="4810125"/>
          </a:xfrm>
          <a:custGeom>
            <a:avLst/>
            <a:gdLst/>
            <a:ahLst/>
            <a:cxnLst/>
            <a:rect l="l" t="t" r="r" b="b"/>
            <a:pathLst>
              <a:path w="10287000" h="4810125">
                <a:moveTo>
                  <a:pt x="0" y="0"/>
                </a:moveTo>
                <a:lnTo>
                  <a:pt x="10287000" y="0"/>
                </a:lnTo>
                <a:lnTo>
                  <a:pt x="10287000" y="4810125"/>
                </a:lnTo>
                <a:lnTo>
                  <a:pt x="0" y="4810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688" b="-12688"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2001500" y="2657475"/>
            <a:ext cx="5334000" cy="2881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T1068  Privilege Escalation</a:t>
            </a:r>
          </a:p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T1021  Lateral Movement</a:t>
            </a:r>
          </a:p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T1595  Reconnaissance</a:t>
            </a:r>
          </a:p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T1110  Credential Access</a:t>
            </a:r>
          </a:p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T1071  Command &amp; Control</a:t>
            </a:r>
          </a:p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T1190  Initial Access</a:t>
            </a:r>
          </a:p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T1642  Collection</a:t>
            </a:r>
          </a:p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T1041  Exfiltration</a:t>
            </a:r>
          </a:p>
          <a:p>
            <a:pPr algn="l">
              <a:lnSpc>
                <a:spcPts val="2598"/>
              </a:lnSpc>
            </a:pPr>
            <a:r>
              <a:rPr lang="en-US" sz="1575">
                <a:solidFill>
                  <a:srgbClr val="FFFFFF"/>
                </a:solidFill>
                <a:latin typeface="IBM Plex Mono"/>
                <a:ea typeface="IBM Plex Mono"/>
                <a:cs typeface="IBM Plex Mono"/>
                <a:sym typeface="IBM Plex Mono"/>
              </a:rPr>
              <a:t>T1046  Discovery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001500" y="7496175"/>
            <a:ext cx="4953000" cy="58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1725">
                <a:solidFill>
                  <a:srgbClr val="728399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Mapped tactics and techniques give analysts faster context for investigation and response.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39D5D0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7250" y="542925"/>
            <a:ext cx="5715000" cy="2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 spc="162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VALUE  /  NEXT STEPS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57250" y="1009650"/>
            <a:ext cx="10477500" cy="1226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1">
                <a:solidFill>
                  <a:srgbClr val="1023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Minutes, not 90.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7250" y="2495550"/>
            <a:ext cx="1333500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728399"/>
                </a:solidFill>
                <a:latin typeface="IBM Plex Sans"/>
                <a:ea typeface="IBM Plex Sans"/>
                <a:cs typeface="IBM Plex Sans"/>
                <a:sym typeface="IBM Plex Sans"/>
              </a:rPr>
              <a:t>Prioritise genuine threats. Reduce false-positive noise. Keep every decision explainable and auditable.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57250" y="4857750"/>
            <a:ext cx="5048250" cy="2476500"/>
            <a:chOff x="0" y="0"/>
            <a:chExt cx="6731000" cy="3302000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6731000" cy="3302000"/>
              <a:chOff x="0" y="0"/>
              <a:chExt cx="6731000" cy="3302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6731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02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DFF8F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6731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508000" y="54292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FASTER TRIAGE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8000" y="1241425"/>
              <a:ext cx="558800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233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From manual correlation to actionable incidents in minutes.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381750" y="4857750"/>
            <a:ext cx="5048250" cy="2476500"/>
            <a:chOff x="0" y="0"/>
            <a:chExt cx="6731000" cy="330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6731000" cy="3302000"/>
              <a:chOff x="0" y="0"/>
              <a:chExt cx="6731000" cy="3302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6731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02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6731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508000" y="54292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CLEARER DECISIONS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8000" y="1241425"/>
              <a:ext cx="558800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233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Component scores, MITRE context and automated BLUF summaries.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906250" y="4857750"/>
            <a:ext cx="5048250" cy="2476500"/>
            <a:chOff x="0" y="0"/>
            <a:chExt cx="6731000" cy="33020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6731000" cy="3302000"/>
              <a:chOff x="0" y="0"/>
              <a:chExt cx="6731000" cy="3302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731000" cy="3302000"/>
              </a:xfrm>
              <a:custGeom>
                <a:avLst/>
                <a:gdLst/>
                <a:ahLst/>
                <a:cxnLst/>
                <a:rect l="l" t="t" r="r" b="b"/>
                <a:pathLst>
                  <a:path w="6731000" h="3302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6731000" cy="33401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l">
                  <a:lnSpc>
                    <a:spcPts val="1679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508000" y="542925"/>
              <a:ext cx="6096000" cy="3333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b="1">
                  <a:solidFill>
                    <a:srgbClr val="4F7C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TRUST BY DESIGN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8000" y="1241425"/>
              <a:ext cx="558800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10233C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Deterministic rules and independent AI reasoning stay visible.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57250" y="7810500"/>
            <a:ext cx="11906250" cy="430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1">
                <a:solidFill>
                  <a:srgbClr val="10233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— let’s build the future of SOC intelligence together.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7250" y="8648700"/>
            <a:ext cx="15716250" cy="20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4F7CFF"/>
                </a:solidFill>
                <a:latin typeface="IBM Plex Mono"/>
                <a:ea typeface="IBM Plex Mono"/>
                <a:cs typeface="IBM Plex Mono"/>
                <a:sym typeface="IBM Plex Mono"/>
                <a:hlinkClick r:id="rId2" tooltip="https://github.com/KadiaMansi007/bob-ai-hackathon-Infinity/blob/main/docs/solution-overview.md"/>
              </a:rPr>
              <a:t>Solution walkthrough  github.com/KadiaMansi007/bob-ai-hackathon-Infinity  ·  team.infinity@ibm.com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7250" y="9715500"/>
            <a:ext cx="571500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b="1" spc="120">
                <a:solidFill>
                  <a:srgbClr val="4F7CF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INFINITY  /  AI-POWERED SOC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573500" y="9715500"/>
            <a:ext cx="857250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728399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643</Words>
  <Application>Microsoft Office PowerPoint</Application>
  <PresentationFormat>Custom</PresentationFormat>
  <Paragraphs>152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IBM Plex Mono Bold</vt:lpstr>
      <vt:lpstr>IBM Plex Sans</vt:lpstr>
      <vt:lpstr>Montserrat Bold</vt:lpstr>
      <vt:lpstr>Calibri</vt:lpstr>
      <vt:lpstr>IBM Plex Mono</vt:lpstr>
      <vt:lpstr>Arial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Mansi Kadia</cp:lastModifiedBy>
  <cp:revision>2</cp:revision>
  <dcterms:created xsi:type="dcterms:W3CDTF">2006-08-16T00:00:00Z</dcterms:created>
  <dcterms:modified xsi:type="dcterms:W3CDTF">2026-09-15T17:31:22Z</dcterms:modified>
  <dc:identifier>DAHVSRax-9E</dc:identifier>
</cp:coreProperties>
</file>